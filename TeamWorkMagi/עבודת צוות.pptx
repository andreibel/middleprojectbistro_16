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68" r:id="rId3"/>
    <p:sldId id="260" r:id="rId4"/>
    <p:sldId id="258" r:id="rId5"/>
    <p:sldId id="261" r:id="rId6"/>
    <p:sldId id="257" r:id="rId7"/>
    <p:sldId id="259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0033"/>
    <a:srgbClr val="0F0024"/>
    <a:srgbClr val="DDC7FA"/>
    <a:srgbClr val="420099"/>
    <a:srgbClr val="E2CCFF"/>
    <a:srgbClr val="A866FF"/>
    <a:srgbClr val="6E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166"/>
    <p:restoredTop sz="97785"/>
  </p:normalViewPr>
  <p:slideViewPr>
    <p:cSldViewPr snapToGrid="0">
      <p:cViewPr varScale="1">
        <p:scale>
          <a:sx n="131" d="100"/>
          <a:sy n="131" d="100"/>
        </p:scale>
        <p:origin x="21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889EB2-BAC3-6747-AA8C-C4BC37078A98}" type="datetimeFigureOut">
              <a:rPr lang="en-IL" smtClean="0"/>
              <a:t>12/01/2026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329560-4C64-C346-AEDC-A616CCBB9CBA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045297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329560-4C64-C346-AEDC-A616CCBB9CBA}" type="slidenum">
              <a:rPr lang="en-IL" smtClean="0"/>
              <a:t>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57883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algn="r" defTabSz="914400" rtl="1" eaLnBrk="1" latinLnBrk="0" hangingPunct="1"/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329560-4C64-C346-AEDC-A616CCBB9CBA}" type="slidenum">
              <a:rPr lang="en-IL" smtClean="0"/>
              <a:t>11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0880278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C30A9-868B-D463-E823-895540C4A9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7BFE5F-4FDB-22F7-515C-F071207C3B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6059B-E90A-098A-166C-E754B47C7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D66E-5DB5-4D41-BE4D-4DF884971939}" type="datetimeFigureOut">
              <a:rPr lang="en-IL" smtClean="0"/>
              <a:t>12/01/2026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5B630B-2D94-0EEC-2178-7707BFF72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DFE00A-D1A4-3A1A-99F7-DC4D95479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7A8C6-53F9-6640-AB38-FF32ABEFD7AD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761919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5C906-ADA0-7C39-C2E7-5E6C2693D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6D6DD-99ED-DD51-2B6B-86DC06F525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D53E1D-C1B0-3017-FCFA-C19F9E5E6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D66E-5DB5-4D41-BE4D-4DF884971939}" type="datetimeFigureOut">
              <a:rPr lang="en-IL" smtClean="0"/>
              <a:t>12/01/2026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BFD103-EFC2-1859-22BF-62A73F468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F7B3DF-6F4B-6F1A-1F05-D352C20BE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7A8C6-53F9-6640-AB38-FF32ABEFD7AD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23847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5D2EE-B07A-720E-4A9F-B084A1160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995AA8-0609-569A-9246-6D24B9D244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5649E9-2315-5EAD-8DA2-8F9EC37D6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D66E-5DB5-4D41-BE4D-4DF884971939}" type="datetimeFigureOut">
              <a:rPr lang="en-IL" smtClean="0"/>
              <a:t>12/01/2026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D068D-038B-C771-DAF4-E4F772253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61714D-9FEA-D208-035B-67E4A7AB7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7A8C6-53F9-6640-AB38-FF32ABEFD7AD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581493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9EFA2-B089-4861-3683-D7501CA80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F179C-C9BC-E1E7-DE99-CF791BFAF9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12A02A-EA62-8A98-CF52-B81FD0906E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68B995-2B9D-6234-805D-B7AC098E7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D66E-5DB5-4D41-BE4D-4DF884971939}" type="datetimeFigureOut">
              <a:rPr lang="en-IL" smtClean="0"/>
              <a:t>12/01/2026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C1E0A6-C74C-51AF-6999-258C2CA9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BF9B97-729C-20B7-208C-F6CDB48C5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7A8C6-53F9-6640-AB38-FF32ABEFD7AD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64301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A0971-F14D-79F6-8CEB-912F974A9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568E5-ED63-6EE9-F14E-452A2FDF56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A7464-EA9A-CB28-C960-DA726CD83F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C728CB-EF96-0DDE-AA88-50CE989709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D7DECB-E54C-3F1D-306D-5AFB237F6E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E2A97D-FF3F-3AA3-2365-8E9F75A92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D66E-5DB5-4D41-BE4D-4DF884971939}" type="datetimeFigureOut">
              <a:rPr lang="en-IL" smtClean="0"/>
              <a:t>12/01/2026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A3FD71-36BF-3462-A6CB-07FE416262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0B53DF-D1E5-E41A-02B0-02871B7E7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7A8C6-53F9-6640-AB38-FF32ABEFD7AD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142330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8DCA7-1DA2-71AB-B273-19925BC45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A69842-E0D5-6732-C973-45E5F712C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D66E-5DB5-4D41-BE4D-4DF884971939}" type="datetimeFigureOut">
              <a:rPr lang="en-IL" smtClean="0"/>
              <a:t>12/01/2026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FC8744-8C50-2A1C-5B51-1B2E6CDD1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0CBC36-166A-DBFF-DC2A-336A215F7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7A8C6-53F9-6640-AB38-FF32ABEFD7AD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26032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32DD2E-BF2C-95FE-58BB-C7FD64231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D66E-5DB5-4D41-BE4D-4DF884971939}" type="datetimeFigureOut">
              <a:rPr lang="en-IL" smtClean="0"/>
              <a:t>12/01/2026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BCADAE-2A06-A18B-55D4-D15C40C29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69446-4AFC-BFD7-5314-E524EC97E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7A8C6-53F9-6640-AB38-FF32ABEFD7AD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982850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5A0D1-0A90-F84B-436E-F590E4252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D8CB8-673A-B0BE-5ABF-A11C1BF14D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4D499D-AAB7-8913-8E45-5C8CE94651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E6D332-8478-DF93-B82B-7D0EAA6B6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D66E-5DB5-4D41-BE4D-4DF884971939}" type="datetimeFigureOut">
              <a:rPr lang="en-IL" smtClean="0"/>
              <a:t>12/01/2026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EC5F9A-6500-FD2F-92E9-B61E17A8E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AE6B4C-ED54-29C2-0292-3699C8B12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7A8C6-53F9-6640-AB38-FF32ABEFD7AD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8293661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C7EC3-0D11-F0E0-0174-2744AF49A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E89D847-35B9-2E7F-14A3-156F22BFF5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4C3730-FCC2-8C08-3F74-64745843D8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474A99-2890-5494-AFAB-398623F6E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D66E-5DB5-4D41-BE4D-4DF884971939}" type="datetimeFigureOut">
              <a:rPr lang="en-IL" smtClean="0"/>
              <a:t>12/01/2026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80B821-733B-53A2-E6A0-00D77EE5B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17CE96-4F25-979A-40C1-5FE4C7803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7A8C6-53F9-6640-AB38-FF32ABEFD7AD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265322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41B62-5B0C-7C04-152A-FCA4A160F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24C0A4-6850-98A9-D4B7-32A6108A02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29728-64D4-605D-BE3A-DE55AEDAE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D66E-5DB5-4D41-BE4D-4DF884971939}" type="datetimeFigureOut">
              <a:rPr lang="en-IL" smtClean="0"/>
              <a:t>12/01/2026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9D746-62CF-C901-6001-338A828B2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B5EA62-4603-8EBA-E14F-DEB343C20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7A8C6-53F9-6640-AB38-FF32ABEFD7AD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2131967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5E40E5-C28F-7A27-F908-9EF41D999A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6EF1AE-CEB8-F91D-F1B6-D75367C978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4858D8-EB3E-029F-78A8-F0E0D81C3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8D66E-5DB5-4D41-BE4D-4DF884971939}" type="datetimeFigureOut">
              <a:rPr lang="en-IL" smtClean="0"/>
              <a:t>12/01/2026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A0189A-9AC4-E024-698E-E933AFE11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011251-1271-7C27-29D4-ADA053217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A7A8C6-53F9-6640-AB38-FF32ABEFD7AD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426046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05A3F4-5C2E-527B-C825-843AF0B54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402767-B1C8-1032-08EE-1CEAB925FB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D8A325-4409-F88E-1BC7-6C05D580A9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28D66E-5DB5-4D41-BE4D-4DF884971939}" type="datetimeFigureOut">
              <a:rPr lang="en-IL" smtClean="0"/>
              <a:t>12/01/2026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119DE8-55C3-A108-8F77-DBB5CFC209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DF58C-EECB-D073-6E21-E0E480CA84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A7A8C6-53F9-6640-AB38-FF32ABEFD7AD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1586273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svg"/><Relationship Id="rId9" Type="http://schemas.openxmlformats.org/officeDocument/2006/relationships/image" Target="../media/image21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C58158A9-78CB-9F1B-CC13-0F0E5ECF55A4}"/>
              </a:ext>
            </a:extLst>
          </p:cNvPr>
          <p:cNvSpPr/>
          <p:nvPr/>
        </p:nvSpPr>
        <p:spPr>
          <a:xfrm>
            <a:off x="2714800" y="1140615"/>
            <a:ext cx="6762397" cy="4135437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IL" dirty="0">
              <a:solidFill>
                <a:srgbClr val="160033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43A12FC-30E5-A3D8-2F53-C48A843F4D79}"/>
              </a:ext>
            </a:extLst>
          </p:cNvPr>
          <p:cNvGrpSpPr/>
          <p:nvPr/>
        </p:nvGrpSpPr>
        <p:grpSpPr>
          <a:xfrm>
            <a:off x="0" y="5778000"/>
            <a:ext cx="3518092" cy="1080000"/>
            <a:chOff x="0" y="5778000"/>
            <a:chExt cx="3518092" cy="1080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FF95310-FE21-2E4D-C724-0BD786D2D1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5778000"/>
              <a:ext cx="1080000" cy="1080000"/>
            </a:xfrm>
            <a:prstGeom prst="rect">
              <a:avLst/>
            </a:prstGeom>
          </p:spPr>
        </p:pic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D8A0DC5-2221-7CF5-1B59-FD4CBCC67187}"/>
                </a:ext>
              </a:extLst>
            </p:cNvPr>
            <p:cNvGrpSpPr/>
            <p:nvPr/>
          </p:nvGrpSpPr>
          <p:grpSpPr>
            <a:xfrm>
              <a:off x="1270326" y="6048000"/>
              <a:ext cx="2247766" cy="540000"/>
              <a:chOff x="1270326" y="6032428"/>
              <a:chExt cx="2247766" cy="540000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2342E71-2EA4-C6AF-BF6E-D6BDF88E3D0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70326" y="6032428"/>
                <a:ext cx="540000" cy="540000"/>
              </a:xfrm>
              <a:prstGeom prst="ellipse">
                <a:avLst/>
              </a:prstGeom>
              <a:solidFill>
                <a:srgbClr val="6E00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>
                  <a:solidFill>
                    <a:srgbClr val="160033"/>
                  </a:solidFill>
                </a:endParaRP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5D1DAED6-D28F-59C9-1D50-682AB8ECAB3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97628" y="6032428"/>
                <a:ext cx="540000" cy="540000"/>
              </a:xfrm>
              <a:prstGeom prst="ellipse">
                <a:avLst/>
              </a:prstGeom>
              <a:solidFill>
                <a:srgbClr val="A866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>
                  <a:solidFill>
                    <a:srgbClr val="160033"/>
                  </a:solidFill>
                </a:endParaRP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85138A1-56EE-4467-3A94-18BA8413FA3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78092" y="6032428"/>
                <a:ext cx="540000" cy="540000"/>
              </a:xfrm>
              <a:prstGeom prst="ellipse">
                <a:avLst/>
              </a:prstGeom>
              <a:solidFill>
                <a:srgbClr val="E2CC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 dirty="0">
                  <a:solidFill>
                    <a:srgbClr val="160033"/>
                  </a:solidFill>
                </a:endParaRPr>
              </a:p>
            </p:txBody>
          </p:sp>
        </p:grp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42F5B7F-66EA-1E17-EEDC-797C5707BCE8}"/>
              </a:ext>
            </a:extLst>
          </p:cNvPr>
          <p:cNvSpPr txBox="1"/>
          <p:nvPr/>
        </p:nvSpPr>
        <p:spPr>
          <a:xfrm>
            <a:off x="1523999" y="1287904"/>
            <a:ext cx="914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8000" b="1" dirty="0">
                <a:solidFill>
                  <a:srgbClr val="160033"/>
                </a:solidFill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ExtraBold" panose="02000009000000000000" pitchFamily="49" charset="0"/>
              </a:rPr>
              <a:t>עבודת צוות</a:t>
            </a:r>
            <a:endParaRPr lang="en-IL" sz="8000" b="1" dirty="0">
              <a:solidFill>
                <a:srgbClr val="160033"/>
              </a:solidFill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CAADD7E-B533-64A7-E534-73FB7C8372E7}"/>
              </a:ext>
            </a:extLst>
          </p:cNvPr>
          <p:cNvGrpSpPr/>
          <p:nvPr/>
        </p:nvGrpSpPr>
        <p:grpSpPr>
          <a:xfrm>
            <a:off x="8591993" y="3493783"/>
            <a:ext cx="395176" cy="1434477"/>
            <a:chOff x="5880691" y="3697655"/>
            <a:chExt cx="395176" cy="1434477"/>
          </a:xfrm>
        </p:grpSpPr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574E0CF5-D83C-4DE9-CD53-D4122B1360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87779" y="4414730"/>
              <a:ext cx="381000" cy="381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10E7DF83-DE89-2033-1EA3-42C6BC53A9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80691" y="4751132"/>
              <a:ext cx="381000" cy="381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6">
              <a:extLst>
                <a:ext uri="{FF2B5EF4-FFF2-40B4-BE49-F238E27FC236}">
                  <a16:creationId xmlns:a16="http://schemas.microsoft.com/office/drawing/2014/main" id="{934F207F-2F1B-4A5C-F0E5-1FEAF84BAF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94867" y="3697655"/>
              <a:ext cx="381000" cy="381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8">
              <a:extLst>
                <a:ext uri="{FF2B5EF4-FFF2-40B4-BE49-F238E27FC236}">
                  <a16:creationId xmlns:a16="http://schemas.microsoft.com/office/drawing/2014/main" id="{519BF012-D271-61B4-AC9E-D03F797E553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87779" y="4034057"/>
              <a:ext cx="381000" cy="381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0BDE6B0-DF86-2B59-EBBB-86E3B290A1A0}"/>
              </a:ext>
            </a:extLst>
          </p:cNvPr>
          <p:cNvSpPr txBox="1"/>
          <p:nvPr/>
        </p:nvSpPr>
        <p:spPr>
          <a:xfrm>
            <a:off x="1524001" y="2192671"/>
            <a:ext cx="9144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6000" b="1" dirty="0">
                <a:solidFill>
                  <a:srgbClr val="160033"/>
                </a:solidFill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" panose="02000009000000000000" pitchFamily="49" charset="0"/>
              </a:rPr>
              <a:t>פרויקט ביסטרו</a:t>
            </a:r>
            <a:endParaRPr lang="en-IL" sz="6000" b="1" dirty="0">
              <a:solidFill>
                <a:srgbClr val="160033"/>
              </a:solidFill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BE8DC9-CBE2-737A-F57D-C5C7E8A6E980}"/>
              </a:ext>
            </a:extLst>
          </p:cNvPr>
          <p:cNvSpPr txBox="1"/>
          <p:nvPr/>
        </p:nvSpPr>
        <p:spPr>
          <a:xfrm>
            <a:off x="4890977" y="3446142"/>
            <a:ext cx="381088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he-IL" sz="2400" dirty="0">
                <a:solidFill>
                  <a:srgbClr val="160033"/>
                </a:solidFill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SemiBold" panose="02000009000000000000" pitchFamily="49" charset="0"/>
              </a:rPr>
              <a:t>אליהו אסף</a:t>
            </a:r>
            <a:br>
              <a:rPr lang="en-US" sz="2400" dirty="0">
                <a:solidFill>
                  <a:srgbClr val="160033"/>
                </a:solidFill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</a:br>
            <a:r>
              <a:rPr lang="he-IL" sz="2400" dirty="0">
                <a:solidFill>
                  <a:srgbClr val="160033"/>
                </a:solidFill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SemiBold" panose="02000009000000000000" pitchFamily="49" charset="0"/>
              </a:rPr>
              <a:t>בלוזיורוב אנדריי</a:t>
            </a:r>
            <a:br>
              <a:rPr lang="en-US" sz="2400" dirty="0">
                <a:solidFill>
                  <a:srgbClr val="160033"/>
                </a:solidFill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</a:br>
            <a:r>
              <a:rPr lang="he-IL" sz="2400" dirty="0">
                <a:solidFill>
                  <a:srgbClr val="160033"/>
                </a:solidFill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SemiBold" panose="02000009000000000000" pitchFamily="49" charset="0"/>
              </a:rPr>
              <a:t>גונן שי</a:t>
            </a:r>
            <a:br>
              <a:rPr lang="en-US" sz="2400" dirty="0">
                <a:solidFill>
                  <a:srgbClr val="160033"/>
                </a:solidFill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</a:br>
            <a:r>
              <a:rPr lang="he-IL" sz="2400" dirty="0">
                <a:solidFill>
                  <a:srgbClr val="160033"/>
                </a:solidFill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SemiBold" panose="02000009000000000000" pitchFamily="49" charset="0"/>
              </a:rPr>
              <a:t>פאר אביב</a:t>
            </a:r>
            <a:endParaRPr lang="en-IL" sz="2400" dirty="0">
              <a:solidFill>
                <a:srgbClr val="160033"/>
              </a:solidFill>
              <a:latin typeface="JetBrainsMono NF Medium" panose="02000009000000000000" pitchFamily="49" charset="0"/>
              <a:ea typeface="JetBrainsMono NF Medium" panose="02000009000000000000" pitchFamily="49" charset="0"/>
              <a:cs typeface="JetBrainsMono NF Medium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65472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7202B-CE37-E674-F80D-7E8535321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90ECE00-2706-84B2-F149-D8B87ABB935E}"/>
              </a:ext>
            </a:extLst>
          </p:cNvPr>
          <p:cNvSpPr/>
          <p:nvPr/>
        </p:nvSpPr>
        <p:spPr>
          <a:xfrm>
            <a:off x="1619980" y="199089"/>
            <a:ext cx="8952036" cy="689070"/>
          </a:xfrm>
          <a:prstGeom prst="roundRect">
            <a:avLst>
              <a:gd name="adj" fmla="val 2020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 sz="3600" b="1" dirty="0">
              <a:solidFill>
                <a:srgbClr val="160033"/>
              </a:solidFill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A767B383-3785-D933-92B6-B8670A4FA6F9}"/>
              </a:ext>
            </a:extLst>
          </p:cNvPr>
          <p:cNvSpPr/>
          <p:nvPr/>
        </p:nvSpPr>
        <p:spPr>
          <a:xfrm>
            <a:off x="2714800" y="1140615"/>
            <a:ext cx="6762397" cy="4135437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IL" dirty="0">
              <a:solidFill>
                <a:srgbClr val="160033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A86F772-1F8B-6537-E441-3708032C574C}"/>
              </a:ext>
            </a:extLst>
          </p:cNvPr>
          <p:cNvGrpSpPr/>
          <p:nvPr/>
        </p:nvGrpSpPr>
        <p:grpSpPr>
          <a:xfrm>
            <a:off x="0" y="5778000"/>
            <a:ext cx="3518092" cy="1080000"/>
            <a:chOff x="0" y="5778000"/>
            <a:chExt cx="3518092" cy="1080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77B6DA8-875B-85AE-D1D2-93D9CDFFA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5778000"/>
              <a:ext cx="1080000" cy="1080000"/>
            </a:xfrm>
            <a:prstGeom prst="rect">
              <a:avLst/>
            </a:prstGeom>
          </p:spPr>
        </p:pic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BC4BC24-9DCB-E4DE-2679-24E4244A60DD}"/>
                </a:ext>
              </a:extLst>
            </p:cNvPr>
            <p:cNvGrpSpPr/>
            <p:nvPr/>
          </p:nvGrpSpPr>
          <p:grpSpPr>
            <a:xfrm>
              <a:off x="1270326" y="6048000"/>
              <a:ext cx="2247766" cy="540000"/>
              <a:chOff x="1270326" y="6032428"/>
              <a:chExt cx="2247766" cy="540000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50FA8D1F-A274-10A5-F436-264FE168683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70326" y="6032428"/>
                <a:ext cx="540000" cy="540000"/>
              </a:xfrm>
              <a:prstGeom prst="ellipse">
                <a:avLst/>
              </a:prstGeom>
              <a:solidFill>
                <a:srgbClr val="6E00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>
                  <a:solidFill>
                    <a:srgbClr val="160033"/>
                  </a:solidFill>
                </a:endParaRP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20DA2C24-2922-FEFA-4D87-34DFFCFC088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97628" y="6032428"/>
                <a:ext cx="540000" cy="540000"/>
              </a:xfrm>
              <a:prstGeom prst="ellipse">
                <a:avLst/>
              </a:prstGeom>
              <a:solidFill>
                <a:srgbClr val="A866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>
                  <a:solidFill>
                    <a:srgbClr val="160033"/>
                  </a:solidFill>
                </a:endParaRP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F725375-F327-E2FE-C32B-5B9845C5E7E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78092" y="6032428"/>
                <a:ext cx="540000" cy="540000"/>
              </a:xfrm>
              <a:prstGeom prst="ellipse">
                <a:avLst/>
              </a:prstGeom>
              <a:solidFill>
                <a:srgbClr val="E2CC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 dirty="0">
                  <a:solidFill>
                    <a:srgbClr val="160033"/>
                  </a:solidFill>
                </a:endParaRPr>
              </a:p>
            </p:txBody>
          </p:sp>
        </p:grp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5AE42653-BDEF-A45E-7639-4EFAAFF803FB}"/>
              </a:ext>
            </a:extLst>
          </p:cNvPr>
          <p:cNvSpPr txBox="1"/>
          <p:nvPr/>
        </p:nvSpPr>
        <p:spPr>
          <a:xfrm>
            <a:off x="1381898" y="199089"/>
            <a:ext cx="914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4000" b="1" dirty="0">
                <a:solidFill>
                  <a:srgbClr val="160033"/>
                </a:solidFill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ExtraBold" panose="02000009000000000000" pitchFamily="49" charset="0"/>
              </a:rPr>
              <a:t>נושאי המצגת </a:t>
            </a:r>
            <a:endParaRPr lang="en-IL" sz="4000" b="1" dirty="0">
              <a:solidFill>
                <a:srgbClr val="160033"/>
              </a:solidFill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40F169-FAC8-28D9-50D3-BF68E3CC2796}"/>
              </a:ext>
            </a:extLst>
          </p:cNvPr>
          <p:cNvSpPr txBox="1"/>
          <p:nvPr/>
        </p:nvSpPr>
        <p:spPr>
          <a:xfrm>
            <a:off x="3539886" y="1534124"/>
            <a:ext cx="511222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r" rtl="1">
              <a:buFont typeface="Arial" panose="020B0604020202020204" pitchFamily="34" charset="0"/>
              <a:buChar char="•"/>
            </a:pPr>
            <a:r>
              <a:rPr lang="he-IL" sz="2400" dirty="0">
                <a:solidFill>
                  <a:srgbClr val="160033"/>
                </a:solidFill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נדבר על תהליך העבודה שלנו</a:t>
            </a:r>
          </a:p>
          <a:p>
            <a:pPr marL="342900" indent="-342900" algn="r" rtl="1">
              <a:buFont typeface="Arial" panose="020B0604020202020204" pitchFamily="34" charset="0"/>
              <a:buChar char="•"/>
            </a:pPr>
            <a:r>
              <a:rPr lang="he-IL" sz="2400" dirty="0">
                <a:solidFill>
                  <a:srgbClr val="160033"/>
                </a:solidFill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הסיכונים שהתממשו</a:t>
            </a:r>
          </a:p>
          <a:p>
            <a:pPr marL="342900" indent="-342900" algn="r" rtl="1">
              <a:buFont typeface="Arial" panose="020B0604020202020204" pitchFamily="34" charset="0"/>
              <a:buChar char="•"/>
            </a:pPr>
            <a:r>
              <a:rPr lang="he-IL" sz="2400" dirty="0">
                <a:solidFill>
                  <a:srgbClr val="160033"/>
                </a:solidFill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איך התקבלו ההחלטות</a:t>
            </a:r>
          </a:p>
          <a:p>
            <a:pPr marL="342900" indent="-342900" algn="r" rtl="1">
              <a:buFont typeface="Arial" panose="020B0604020202020204" pitchFamily="34" charset="0"/>
              <a:buChar char="•"/>
            </a:pPr>
            <a:r>
              <a:rPr lang="he-IL" sz="2400" dirty="0">
                <a:solidFill>
                  <a:srgbClr val="160033"/>
                </a:solidFill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איזה סגנונות תקשורת היו</a:t>
            </a:r>
          </a:p>
          <a:p>
            <a:pPr marL="342900" indent="-342900" algn="r" rtl="1">
              <a:buFont typeface="Arial" panose="020B0604020202020204" pitchFamily="34" charset="0"/>
              <a:buChar char="•"/>
            </a:pPr>
            <a:r>
              <a:rPr lang="he-IL" sz="2400" dirty="0">
                <a:solidFill>
                  <a:srgbClr val="160033"/>
                </a:solidFill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מסקנות ותובנות </a:t>
            </a:r>
          </a:p>
          <a:p>
            <a:pPr marL="342900" indent="-342900" algn="r" rtl="1">
              <a:buFont typeface="Arial" panose="020B0604020202020204" pitchFamily="34" charset="0"/>
              <a:buChar char="•"/>
            </a:pPr>
            <a:r>
              <a:rPr lang="he-IL" sz="2400" dirty="0">
                <a:solidFill>
                  <a:srgbClr val="160033"/>
                </a:solidFill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כלים שעזרו לנו</a:t>
            </a:r>
          </a:p>
          <a:p>
            <a:pPr marL="342900" indent="-342900" algn="r" rtl="1">
              <a:buFont typeface="Arial" panose="020B0604020202020204" pitchFamily="34" charset="0"/>
              <a:buChar char="•"/>
            </a:pPr>
            <a:r>
              <a:rPr lang="he-IL" sz="2400" dirty="0">
                <a:solidFill>
                  <a:srgbClr val="160033"/>
                </a:solidFill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וטיפ עבור הסמסטר הבא </a:t>
            </a:r>
          </a:p>
          <a:p>
            <a:pPr marL="342900" indent="-342900" algn="r" rtl="1">
              <a:buFont typeface="Arial" panose="020B0604020202020204" pitchFamily="34" charset="0"/>
              <a:buChar char="•"/>
            </a:pPr>
            <a:endParaRPr lang="en-IL" sz="2400" dirty="0">
              <a:solidFill>
                <a:srgbClr val="160033"/>
              </a:solidFill>
              <a:latin typeface="JetBrainsMono NF Medium" panose="02000009000000000000" pitchFamily="49" charset="0"/>
              <a:ea typeface="JetBrainsMono NF Medium" panose="02000009000000000000" pitchFamily="49" charset="0"/>
              <a:cs typeface="JetBrainsMono NF Medium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7901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5D9FA-0B2B-4CA2-9BCB-42D993EC8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B253A6AB-0E00-A9B4-8BA9-8FF5B2497DBB}"/>
              </a:ext>
            </a:extLst>
          </p:cNvPr>
          <p:cNvGrpSpPr/>
          <p:nvPr/>
        </p:nvGrpSpPr>
        <p:grpSpPr>
          <a:xfrm>
            <a:off x="0" y="5778000"/>
            <a:ext cx="3518092" cy="1080000"/>
            <a:chOff x="0" y="5778000"/>
            <a:chExt cx="3518092" cy="1080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6735EB3-74AD-AB12-FDBC-E89C5C246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5778000"/>
              <a:ext cx="1080000" cy="1080000"/>
            </a:xfrm>
            <a:prstGeom prst="rect">
              <a:avLst/>
            </a:prstGeom>
          </p:spPr>
        </p:pic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0D2CAE9-F013-0793-6A35-81DE2FE5C9C7}"/>
                </a:ext>
              </a:extLst>
            </p:cNvPr>
            <p:cNvGrpSpPr/>
            <p:nvPr/>
          </p:nvGrpSpPr>
          <p:grpSpPr>
            <a:xfrm>
              <a:off x="1270326" y="6048000"/>
              <a:ext cx="2247766" cy="540000"/>
              <a:chOff x="1270326" y="6032428"/>
              <a:chExt cx="2247766" cy="540000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7D3420F6-AC23-D814-53BA-D14366E179C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70326" y="6032428"/>
                <a:ext cx="540000" cy="540000"/>
              </a:xfrm>
              <a:prstGeom prst="ellipse">
                <a:avLst/>
              </a:prstGeom>
              <a:solidFill>
                <a:srgbClr val="6E00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99FA523-5309-3D07-B202-240A2EBFD22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97628" y="6032428"/>
                <a:ext cx="540000" cy="540000"/>
              </a:xfrm>
              <a:prstGeom prst="ellipse">
                <a:avLst/>
              </a:prstGeom>
              <a:solidFill>
                <a:srgbClr val="A866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77C82D13-3A19-028C-AF61-8C5DDAD62E9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78092" y="6032428"/>
                <a:ext cx="540000" cy="540000"/>
              </a:xfrm>
              <a:prstGeom prst="ellipse">
                <a:avLst/>
              </a:prstGeom>
              <a:solidFill>
                <a:srgbClr val="E2CC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 dirty="0"/>
              </a:p>
            </p:txBody>
          </p:sp>
        </p:grpSp>
      </p:grp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3F98C633-DA17-B17B-13E4-66E02630D32B}"/>
              </a:ext>
            </a:extLst>
          </p:cNvPr>
          <p:cNvSpPr/>
          <p:nvPr/>
        </p:nvSpPr>
        <p:spPr>
          <a:xfrm>
            <a:off x="6962228" y="1269000"/>
            <a:ext cx="4320000" cy="4320000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IL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76EE4E6-BD2E-68AA-832F-5551FFAE1839}"/>
              </a:ext>
            </a:extLst>
          </p:cNvPr>
          <p:cNvSpPr txBox="1"/>
          <p:nvPr/>
        </p:nvSpPr>
        <p:spPr>
          <a:xfrm>
            <a:off x="6962228" y="1410446"/>
            <a:ext cx="43122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3200" b="1" dirty="0"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ExtraBold" panose="02000009000000000000" pitchFamily="49" charset="0"/>
              </a:rPr>
              <a:t>תחילת פרויקט</a:t>
            </a:r>
            <a:endParaRPr lang="en-IL" sz="3200" b="1" dirty="0"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5DE8B2E-8D11-C32B-EDAE-79E2B6C113AA}"/>
              </a:ext>
            </a:extLst>
          </p:cNvPr>
          <p:cNvSpPr txBox="1"/>
          <p:nvPr/>
        </p:nvSpPr>
        <p:spPr>
          <a:xfrm>
            <a:off x="6970223" y="2124226"/>
            <a:ext cx="43337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914400" rtl="1" eaLnBrk="1" latinLnBrk="0" hangingPunct="1"/>
            <a:r>
              <a:rPr lang="he-IL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יצרנו תיאום צפיות בין חברי הצוות.</a:t>
            </a:r>
            <a:endParaRPr lang="en-IL" dirty="0">
              <a:latin typeface="JetBrainsMono NF Medium" panose="02000009000000000000" pitchFamily="49" charset="0"/>
              <a:ea typeface="JetBrainsMono NF Medium" panose="02000009000000000000" pitchFamily="49" charset="0"/>
              <a:cs typeface="JetBrainsMono NF Medium" panose="02000009000000000000" pitchFamily="49" charset="0"/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C087E4A-11E4-43FC-E969-EC9A59296F38}"/>
              </a:ext>
            </a:extLst>
          </p:cNvPr>
          <p:cNvCxnSpPr>
            <a:cxnSpLocks/>
          </p:cNvCxnSpPr>
          <p:nvPr/>
        </p:nvCxnSpPr>
        <p:spPr>
          <a:xfrm>
            <a:off x="7165910" y="2848028"/>
            <a:ext cx="3912637" cy="0"/>
          </a:xfrm>
          <a:prstGeom prst="line">
            <a:avLst/>
          </a:prstGeom>
          <a:ln>
            <a:solidFill>
              <a:srgbClr val="1600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82FEAD43-B60E-F21D-62A9-109682AAC8B8}"/>
              </a:ext>
            </a:extLst>
          </p:cNvPr>
          <p:cNvSpPr txBox="1"/>
          <p:nvPr/>
        </p:nvSpPr>
        <p:spPr>
          <a:xfrm>
            <a:off x="6951562" y="2925500"/>
            <a:ext cx="43337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914400" rtl="1" eaLnBrk="1" latinLnBrk="0" hangingPunct="1"/>
            <a:r>
              <a:rPr lang="he-IL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יצור אמון מקצועי ואישי.</a:t>
            </a:r>
            <a:endParaRPr lang="en-IL" dirty="0">
              <a:latin typeface="JetBrainsMono NF Medium" panose="02000009000000000000" pitchFamily="49" charset="0"/>
              <a:ea typeface="JetBrainsMono NF Medium" panose="02000009000000000000" pitchFamily="49" charset="0"/>
              <a:cs typeface="JetBrainsMono NF Medium" panose="02000009000000000000" pitchFamily="49" charset="0"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59CD006-2556-5BA8-AED9-B9F80FEA6CBA}"/>
              </a:ext>
            </a:extLst>
          </p:cNvPr>
          <p:cNvCxnSpPr>
            <a:cxnSpLocks/>
          </p:cNvCxnSpPr>
          <p:nvPr/>
        </p:nvCxnSpPr>
        <p:spPr>
          <a:xfrm>
            <a:off x="7154804" y="3376372"/>
            <a:ext cx="3912637" cy="0"/>
          </a:xfrm>
          <a:prstGeom prst="line">
            <a:avLst/>
          </a:prstGeom>
          <a:ln>
            <a:solidFill>
              <a:srgbClr val="1600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3BBD0AE-5F35-C649-03E1-8D6E4451B790}"/>
              </a:ext>
            </a:extLst>
          </p:cNvPr>
          <p:cNvSpPr txBox="1"/>
          <p:nvPr/>
        </p:nvSpPr>
        <p:spPr>
          <a:xfrm>
            <a:off x="6940456" y="3453844"/>
            <a:ext cx="43337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914400" rtl="1" eaLnBrk="1" latinLnBrk="0" hangingPunct="1"/>
            <a:r>
              <a:rPr lang="he-IL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שיתוף פעולה מכבד כדי למנוע קונפליקטים מיותרים.</a:t>
            </a:r>
            <a:endParaRPr lang="en-IL" dirty="0">
              <a:latin typeface="JetBrainsMono NF Medium" panose="02000009000000000000" pitchFamily="49" charset="0"/>
              <a:ea typeface="JetBrainsMono NF Medium" panose="02000009000000000000" pitchFamily="49" charset="0"/>
              <a:cs typeface="JetBrainsMono NF Medium" panose="02000009000000000000" pitchFamily="49" charset="0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ADF8C30-F3D1-81E4-4868-79DA04CAD773}"/>
              </a:ext>
            </a:extLst>
          </p:cNvPr>
          <p:cNvCxnSpPr>
            <a:cxnSpLocks/>
          </p:cNvCxnSpPr>
          <p:nvPr/>
        </p:nvCxnSpPr>
        <p:spPr>
          <a:xfrm>
            <a:off x="7165910" y="4225111"/>
            <a:ext cx="3912637" cy="0"/>
          </a:xfrm>
          <a:prstGeom prst="line">
            <a:avLst/>
          </a:prstGeom>
          <a:ln>
            <a:solidFill>
              <a:srgbClr val="1600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7716F4-2CFE-6261-550A-4612C113823D}"/>
              </a:ext>
            </a:extLst>
          </p:cNvPr>
          <p:cNvSpPr txBox="1"/>
          <p:nvPr/>
        </p:nvSpPr>
        <p:spPr>
          <a:xfrm>
            <a:off x="6951562" y="4302583"/>
            <a:ext cx="43337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914400" rtl="1" eaLnBrk="1" latinLnBrk="0" hangingPunct="1"/>
            <a:r>
              <a:rPr lang="he-IL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קבענו ימים ושעות קבועות לעבדה</a:t>
            </a:r>
            <a:endParaRPr lang="en-IL" dirty="0">
              <a:latin typeface="JetBrainsMono NF Medium" panose="02000009000000000000" pitchFamily="49" charset="0"/>
              <a:ea typeface="JetBrainsMono NF Medium" panose="02000009000000000000" pitchFamily="49" charset="0"/>
              <a:cs typeface="JetBrainsMono NF Medium" panose="02000009000000000000" pitchFamily="49" charset="0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40537F6D-4DD4-13A5-4417-E80C55F8F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8402" y="1973000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EB962944-FF99-172E-97FF-986162B5CC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5128" y="3534749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>
            <a:extLst>
              <a:ext uri="{FF2B5EF4-FFF2-40B4-BE49-F238E27FC236}">
                <a16:creationId xmlns:a16="http://schemas.microsoft.com/office/drawing/2014/main" id="{0255B76F-FA29-A4E6-D43C-824230E99D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4534" y="105004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279288C-21CB-25D6-9712-1D9C79DB6BCE}"/>
              </a:ext>
            </a:extLst>
          </p:cNvPr>
          <p:cNvSpPr/>
          <p:nvPr/>
        </p:nvSpPr>
        <p:spPr>
          <a:xfrm>
            <a:off x="1619980" y="199089"/>
            <a:ext cx="8952036" cy="689070"/>
          </a:xfrm>
          <a:prstGeom prst="roundRect">
            <a:avLst>
              <a:gd name="adj" fmla="val 2020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 sz="3600" b="1" dirty="0">
              <a:solidFill>
                <a:srgbClr val="160033"/>
              </a:solidFill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283B36-9756-9CB6-B142-CD2D22FF3CC7}"/>
              </a:ext>
            </a:extLst>
          </p:cNvPr>
          <p:cNvSpPr txBox="1"/>
          <p:nvPr/>
        </p:nvSpPr>
        <p:spPr>
          <a:xfrm>
            <a:off x="1381898" y="199089"/>
            <a:ext cx="914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4000" b="1" dirty="0">
                <a:solidFill>
                  <a:srgbClr val="160033"/>
                </a:solidFill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ExtraBold" panose="02000009000000000000" pitchFamily="49" charset="0"/>
              </a:rPr>
              <a:t>תהליך עבודה</a:t>
            </a:r>
          </a:p>
        </p:txBody>
      </p:sp>
    </p:spTree>
    <p:extLst>
      <p:ext uri="{BB962C8B-B14F-4D97-AF65-F5344CB8AC3E}">
        <p14:creationId xmlns:p14="http://schemas.microsoft.com/office/powerpoint/2010/main" val="28894787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31" grpId="0"/>
      <p:bldP spid="32" grpId="0"/>
      <p:bldP spid="34" grpId="0"/>
      <p:bldP spid="36" grpId="0"/>
      <p:bldP spid="3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ECDC5C0-C1D5-2E16-B7D5-817AF6528557}"/>
              </a:ext>
            </a:extLst>
          </p:cNvPr>
          <p:cNvSpPr/>
          <p:nvPr/>
        </p:nvSpPr>
        <p:spPr>
          <a:xfrm>
            <a:off x="888000" y="1269000"/>
            <a:ext cx="4320000" cy="4320000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IL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9FC9CED-CF86-8F8E-DBE2-6A681C6E7F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8000" y="126900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587CB64A-651C-8B75-02B5-BA70C8E81F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8000" y="486900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>
            <a:extLst>
              <a:ext uri="{FF2B5EF4-FFF2-40B4-BE49-F238E27FC236}">
                <a16:creationId xmlns:a16="http://schemas.microsoft.com/office/drawing/2014/main" id="{DE7E141D-3DE5-C2E1-4FA7-10BDD46DA9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000" y="486900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>
            <a:extLst>
              <a:ext uri="{FF2B5EF4-FFF2-40B4-BE49-F238E27FC236}">
                <a16:creationId xmlns:a16="http://schemas.microsoft.com/office/drawing/2014/main" id="{6D636AE2-C394-7F12-9365-8A054C2C46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000" y="126900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riangle 16">
            <a:extLst>
              <a:ext uri="{FF2B5EF4-FFF2-40B4-BE49-F238E27FC236}">
                <a16:creationId xmlns:a16="http://schemas.microsoft.com/office/drawing/2014/main" id="{3F4D8B31-C134-EA8B-680F-1F5D1CE0FA49}"/>
              </a:ext>
            </a:extLst>
          </p:cNvPr>
          <p:cNvSpPr/>
          <p:nvPr/>
        </p:nvSpPr>
        <p:spPr>
          <a:xfrm rot="18900000" flipH="1">
            <a:off x="1125717" y="1706740"/>
            <a:ext cx="1897244" cy="1497198"/>
          </a:xfrm>
          <a:prstGeom prst="triangle">
            <a:avLst/>
          </a:prstGeom>
          <a:gradFill>
            <a:gsLst>
              <a:gs pos="0">
                <a:schemeClr val="bg1">
                  <a:lumMod val="50000"/>
                  <a:alpha val="50000"/>
                </a:schemeClr>
              </a:gs>
              <a:gs pos="100000">
                <a:schemeClr val="bg1">
                  <a:lumMod val="50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/>
          </a:p>
        </p:txBody>
      </p:sp>
      <p:sp>
        <p:nvSpPr>
          <p:cNvPr id="4" name="Right Triangle 3">
            <a:extLst>
              <a:ext uri="{FF2B5EF4-FFF2-40B4-BE49-F238E27FC236}">
                <a16:creationId xmlns:a16="http://schemas.microsoft.com/office/drawing/2014/main" id="{849BE20F-4B99-4953-25E7-75BC188654B1}"/>
              </a:ext>
            </a:extLst>
          </p:cNvPr>
          <p:cNvSpPr>
            <a:spLocks noChangeAspect="1"/>
          </p:cNvSpPr>
          <p:nvPr/>
        </p:nvSpPr>
        <p:spPr>
          <a:xfrm>
            <a:off x="3047999" y="2455339"/>
            <a:ext cx="973661" cy="973661"/>
          </a:xfrm>
          <a:prstGeom prst="rtTriangle">
            <a:avLst/>
          </a:prstGeom>
          <a:solidFill>
            <a:srgbClr val="A86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/>
          </a:p>
        </p:txBody>
      </p:sp>
      <p:sp>
        <p:nvSpPr>
          <p:cNvPr id="5" name="Right Triangle 4">
            <a:extLst>
              <a:ext uri="{FF2B5EF4-FFF2-40B4-BE49-F238E27FC236}">
                <a16:creationId xmlns:a16="http://schemas.microsoft.com/office/drawing/2014/main" id="{695BCB81-6C40-C83F-B011-635FE188575A}"/>
              </a:ext>
            </a:extLst>
          </p:cNvPr>
          <p:cNvSpPr>
            <a:spLocks noChangeAspect="1"/>
          </p:cNvSpPr>
          <p:nvPr/>
        </p:nvSpPr>
        <p:spPr>
          <a:xfrm rot="5400000">
            <a:off x="3047999" y="3429000"/>
            <a:ext cx="973661" cy="973661"/>
          </a:xfrm>
          <a:prstGeom prst="rtTriangle">
            <a:avLst/>
          </a:prstGeom>
          <a:solidFill>
            <a:srgbClr val="E2CC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/>
          </a:p>
        </p:txBody>
      </p:sp>
      <p:sp>
        <p:nvSpPr>
          <p:cNvPr id="9" name="Right Triangle 8">
            <a:extLst>
              <a:ext uri="{FF2B5EF4-FFF2-40B4-BE49-F238E27FC236}">
                <a16:creationId xmlns:a16="http://schemas.microsoft.com/office/drawing/2014/main" id="{875F5848-F603-F710-7B1A-10EDD7FA8F92}"/>
              </a:ext>
            </a:extLst>
          </p:cNvPr>
          <p:cNvSpPr>
            <a:spLocks noChangeAspect="1"/>
          </p:cNvSpPr>
          <p:nvPr/>
        </p:nvSpPr>
        <p:spPr>
          <a:xfrm flipH="1">
            <a:off x="2074339" y="2455339"/>
            <a:ext cx="973661" cy="973661"/>
          </a:xfrm>
          <a:prstGeom prst="rtTriangle">
            <a:avLst/>
          </a:prstGeom>
          <a:solidFill>
            <a:srgbClr val="6E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B7447562-51EF-D47B-7D2D-F188F9CD8A77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074339" y="3429000"/>
            <a:ext cx="973661" cy="973661"/>
          </a:xfrm>
          <a:prstGeom prst="rtTriangle">
            <a:avLst/>
          </a:prstGeom>
          <a:solidFill>
            <a:srgbClr val="4200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/>
          </a:p>
        </p:txBody>
      </p:sp>
      <p:sp>
        <p:nvSpPr>
          <p:cNvPr id="19" name="Triangle 18">
            <a:extLst>
              <a:ext uri="{FF2B5EF4-FFF2-40B4-BE49-F238E27FC236}">
                <a16:creationId xmlns:a16="http://schemas.microsoft.com/office/drawing/2014/main" id="{75C07E26-80F2-61D0-7B4E-4E066F6A8CDB}"/>
              </a:ext>
            </a:extLst>
          </p:cNvPr>
          <p:cNvSpPr/>
          <p:nvPr/>
        </p:nvSpPr>
        <p:spPr>
          <a:xfrm rot="2700000" flipH="1">
            <a:off x="3073040" y="1720517"/>
            <a:ext cx="1897244" cy="1497198"/>
          </a:xfrm>
          <a:prstGeom prst="triangle">
            <a:avLst/>
          </a:prstGeom>
          <a:gradFill>
            <a:gsLst>
              <a:gs pos="0">
                <a:schemeClr val="bg1">
                  <a:lumMod val="50000"/>
                  <a:alpha val="50000"/>
                </a:schemeClr>
              </a:gs>
              <a:gs pos="100000">
                <a:schemeClr val="bg1">
                  <a:lumMod val="50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/>
          </a:p>
        </p:txBody>
      </p:sp>
      <p:sp>
        <p:nvSpPr>
          <p:cNvPr id="21" name="Triangle 20">
            <a:extLst>
              <a:ext uri="{FF2B5EF4-FFF2-40B4-BE49-F238E27FC236}">
                <a16:creationId xmlns:a16="http://schemas.microsoft.com/office/drawing/2014/main" id="{64A99526-9FCF-D4A9-D0FB-AC70C5DC6BA5}"/>
              </a:ext>
            </a:extLst>
          </p:cNvPr>
          <p:cNvSpPr/>
          <p:nvPr/>
        </p:nvSpPr>
        <p:spPr>
          <a:xfrm rot="2700000" flipH="1" flipV="1">
            <a:off x="1139495" y="3740084"/>
            <a:ext cx="1897244" cy="1497198"/>
          </a:xfrm>
          <a:prstGeom prst="triangle">
            <a:avLst/>
          </a:prstGeom>
          <a:gradFill>
            <a:gsLst>
              <a:gs pos="0">
                <a:schemeClr val="bg1">
                  <a:lumMod val="50000"/>
                  <a:alpha val="50000"/>
                </a:schemeClr>
              </a:gs>
              <a:gs pos="100000">
                <a:schemeClr val="bg1">
                  <a:lumMod val="50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/>
          </a:p>
        </p:txBody>
      </p:sp>
      <p:sp>
        <p:nvSpPr>
          <p:cNvPr id="22" name="Triangle 21">
            <a:extLst>
              <a:ext uri="{FF2B5EF4-FFF2-40B4-BE49-F238E27FC236}">
                <a16:creationId xmlns:a16="http://schemas.microsoft.com/office/drawing/2014/main" id="{6D1DC70E-7008-7E64-4A8A-55E693577A37}"/>
              </a:ext>
            </a:extLst>
          </p:cNvPr>
          <p:cNvSpPr/>
          <p:nvPr/>
        </p:nvSpPr>
        <p:spPr>
          <a:xfrm rot="18900000" flipH="1" flipV="1">
            <a:off x="3073040" y="3726307"/>
            <a:ext cx="1897244" cy="1497198"/>
          </a:xfrm>
          <a:prstGeom prst="triangle">
            <a:avLst/>
          </a:prstGeom>
          <a:gradFill>
            <a:gsLst>
              <a:gs pos="0">
                <a:schemeClr val="bg1">
                  <a:lumMod val="50000"/>
                  <a:alpha val="50000"/>
                </a:schemeClr>
              </a:gs>
              <a:gs pos="100000">
                <a:schemeClr val="bg1">
                  <a:lumMod val="50000"/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DB4EFD6B-B72B-AE27-59DB-CD1085D08A16}"/>
              </a:ext>
            </a:extLst>
          </p:cNvPr>
          <p:cNvSpPr/>
          <p:nvPr/>
        </p:nvSpPr>
        <p:spPr>
          <a:xfrm>
            <a:off x="6984000" y="1268999"/>
            <a:ext cx="4320000" cy="4320000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IL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728635-98E5-211A-2E23-247BDCF86C74}"/>
              </a:ext>
            </a:extLst>
          </p:cNvPr>
          <p:cNvSpPr txBox="1"/>
          <p:nvPr/>
        </p:nvSpPr>
        <p:spPr>
          <a:xfrm>
            <a:off x="6991730" y="1404225"/>
            <a:ext cx="43122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3200" b="1" dirty="0"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ExtraBold" panose="02000009000000000000" pitchFamily="49" charset="0"/>
              </a:rPr>
              <a:t>עיצוב ואפיון</a:t>
            </a:r>
            <a:endParaRPr lang="en-IL" sz="3200" b="1" dirty="0"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11DC202-A333-0759-83C8-78173B103E5E}"/>
              </a:ext>
            </a:extLst>
          </p:cNvPr>
          <p:cNvGrpSpPr/>
          <p:nvPr/>
        </p:nvGrpSpPr>
        <p:grpSpPr>
          <a:xfrm>
            <a:off x="0" y="5778000"/>
            <a:ext cx="3518092" cy="1080000"/>
            <a:chOff x="0" y="5778000"/>
            <a:chExt cx="3518092" cy="1080000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1EE2C402-5BA9-1989-54CB-BFB4622A33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5778000"/>
              <a:ext cx="1080000" cy="1080000"/>
            </a:xfrm>
            <a:prstGeom prst="rect">
              <a:avLst/>
            </a:prstGeom>
          </p:spPr>
        </p:pic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55B79F3-B8D4-0CBB-BBFF-FFF96F7C3045}"/>
                </a:ext>
              </a:extLst>
            </p:cNvPr>
            <p:cNvGrpSpPr/>
            <p:nvPr/>
          </p:nvGrpSpPr>
          <p:grpSpPr>
            <a:xfrm>
              <a:off x="1270326" y="6048000"/>
              <a:ext cx="2247766" cy="540000"/>
              <a:chOff x="1270326" y="6032428"/>
              <a:chExt cx="2247766" cy="540000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C07D334F-0D4B-D290-1201-2CE834EBE90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70326" y="6032428"/>
                <a:ext cx="540000" cy="540000"/>
              </a:xfrm>
              <a:prstGeom prst="ellipse">
                <a:avLst/>
              </a:prstGeom>
              <a:solidFill>
                <a:srgbClr val="6E00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ECEEBE17-F2B7-CF93-CABB-F50D07301B8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97628" y="6032428"/>
                <a:ext cx="540000" cy="540000"/>
              </a:xfrm>
              <a:prstGeom prst="ellipse">
                <a:avLst/>
              </a:prstGeom>
              <a:solidFill>
                <a:srgbClr val="A866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2A3A657E-FC43-9BA6-DFB0-607F268AD6F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78092" y="6032428"/>
                <a:ext cx="540000" cy="540000"/>
              </a:xfrm>
              <a:prstGeom prst="ellipse">
                <a:avLst/>
              </a:prstGeom>
              <a:solidFill>
                <a:srgbClr val="E2CC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 dirty="0"/>
              </a:p>
            </p:txBody>
          </p:sp>
        </p:grp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7C96A8B3-77B8-557C-996D-95252A3F90A4}"/>
              </a:ext>
            </a:extLst>
          </p:cNvPr>
          <p:cNvSpPr txBox="1"/>
          <p:nvPr/>
        </p:nvSpPr>
        <p:spPr>
          <a:xfrm>
            <a:off x="6970223" y="2124226"/>
            <a:ext cx="433377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914400" rtl="1" eaLnBrk="1" latinLnBrk="0" hangingPunct="1"/>
            <a:r>
              <a:rPr lang="he-IL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את חלק של עיצוב האפיון עשינו כולם ביחד. בלי חלוקה של משימות לכל חבר צוות. </a:t>
            </a:r>
            <a:endParaRPr lang="en-IL" dirty="0">
              <a:latin typeface="JetBrainsMono NF Medium" panose="02000009000000000000" pitchFamily="49" charset="0"/>
              <a:ea typeface="JetBrainsMono NF Medium" panose="02000009000000000000" pitchFamily="49" charset="0"/>
              <a:cs typeface="JetBrainsMono NF Medium" panose="02000009000000000000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FEA28EC-46B4-4C8F-173A-017D4CAFD476}"/>
              </a:ext>
            </a:extLst>
          </p:cNvPr>
          <p:cNvSpPr txBox="1"/>
          <p:nvPr/>
        </p:nvSpPr>
        <p:spPr>
          <a:xfrm>
            <a:off x="6977111" y="3394947"/>
            <a:ext cx="433377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914400" rtl="1" eaLnBrk="1" latinLnBrk="0" hangingPunct="1"/>
            <a:r>
              <a:rPr lang="he-IL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כל אחד מביא את נקודת מבטו, כדי לקבל את התוצאה הטובה ביותר עבור הפרויקט.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1B7B592-12BD-66F1-34CD-E1861FFC2DF5}"/>
              </a:ext>
            </a:extLst>
          </p:cNvPr>
          <p:cNvCxnSpPr>
            <a:cxnSpLocks/>
          </p:cNvCxnSpPr>
          <p:nvPr/>
        </p:nvCxnSpPr>
        <p:spPr>
          <a:xfrm>
            <a:off x="7187682" y="3221252"/>
            <a:ext cx="3912637" cy="0"/>
          </a:xfrm>
          <a:prstGeom prst="line">
            <a:avLst/>
          </a:prstGeom>
          <a:ln>
            <a:solidFill>
              <a:srgbClr val="1600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6AEF451-6F95-ADB4-ED4D-C7C825E630DE}"/>
              </a:ext>
            </a:extLst>
          </p:cNvPr>
          <p:cNvSpPr/>
          <p:nvPr/>
        </p:nvSpPr>
        <p:spPr>
          <a:xfrm>
            <a:off x="1619980" y="199089"/>
            <a:ext cx="8952036" cy="689070"/>
          </a:xfrm>
          <a:prstGeom prst="roundRect">
            <a:avLst>
              <a:gd name="adj" fmla="val 2020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 sz="3600" b="1" dirty="0">
              <a:solidFill>
                <a:srgbClr val="160033"/>
              </a:solidFill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FCA564-8622-5135-19B9-41A1CEF52CB2}"/>
              </a:ext>
            </a:extLst>
          </p:cNvPr>
          <p:cNvSpPr txBox="1"/>
          <p:nvPr/>
        </p:nvSpPr>
        <p:spPr>
          <a:xfrm>
            <a:off x="1381898" y="199089"/>
            <a:ext cx="914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4000" b="1" dirty="0">
                <a:solidFill>
                  <a:srgbClr val="160033"/>
                </a:solidFill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ExtraBold" panose="02000009000000000000" pitchFamily="49" charset="0"/>
              </a:rPr>
              <a:t>תהליך עבודה</a:t>
            </a:r>
          </a:p>
        </p:txBody>
      </p:sp>
    </p:spTree>
    <p:extLst>
      <p:ext uri="{BB962C8B-B14F-4D97-AF65-F5344CB8AC3E}">
        <p14:creationId xmlns:p14="http://schemas.microsoft.com/office/powerpoint/2010/main" val="10300312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7" grpId="0" animBg="1"/>
      <p:bldP spid="4" grpId="0" animBg="1"/>
      <p:bldP spid="5" grpId="0" animBg="1"/>
      <p:bldP spid="9" grpId="0" animBg="1"/>
      <p:bldP spid="10" grpId="0" animBg="1"/>
      <p:bldP spid="19" grpId="0" animBg="1"/>
      <p:bldP spid="21" grpId="0" animBg="1"/>
      <p:bldP spid="22" grpId="0" animBg="1"/>
      <p:bldP spid="23" grpId="0" animBg="1"/>
      <p:bldP spid="24" grpId="0"/>
      <p:bldP spid="35" grpId="0"/>
      <p:bldP spid="4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EFD09-DB52-0F0E-42E0-A57E7BAED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6CAA83F6-F0D4-D8CB-7B64-D4084E32598B}"/>
              </a:ext>
            </a:extLst>
          </p:cNvPr>
          <p:cNvSpPr/>
          <p:nvPr/>
        </p:nvSpPr>
        <p:spPr>
          <a:xfrm>
            <a:off x="4646645" y="1268999"/>
            <a:ext cx="6657355" cy="4320000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IL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302419-A76F-02FB-F549-772B27C8138F}"/>
              </a:ext>
            </a:extLst>
          </p:cNvPr>
          <p:cNvSpPr txBox="1"/>
          <p:nvPr/>
        </p:nvSpPr>
        <p:spPr>
          <a:xfrm>
            <a:off x="4646644" y="1404225"/>
            <a:ext cx="66573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3200" b="1" dirty="0"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ExtraBold" panose="02000009000000000000" pitchFamily="49" charset="0"/>
              </a:rPr>
              <a:t>שלב היישום</a:t>
            </a:r>
            <a:endParaRPr lang="en-IL" sz="3200" b="1" dirty="0"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28B3986-9489-BE98-4E15-089668C7AF43}"/>
              </a:ext>
            </a:extLst>
          </p:cNvPr>
          <p:cNvGrpSpPr/>
          <p:nvPr/>
        </p:nvGrpSpPr>
        <p:grpSpPr>
          <a:xfrm>
            <a:off x="0" y="5778000"/>
            <a:ext cx="3518092" cy="1080000"/>
            <a:chOff x="0" y="5778000"/>
            <a:chExt cx="3518092" cy="1080000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C00175B4-623A-7867-97C1-B3B122A2AF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5778000"/>
              <a:ext cx="1080000" cy="1080000"/>
            </a:xfrm>
            <a:prstGeom prst="rect">
              <a:avLst/>
            </a:prstGeom>
          </p:spPr>
        </p:pic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21BAF22D-CFB9-1A31-EE33-4AE7CB7E92B1}"/>
                </a:ext>
              </a:extLst>
            </p:cNvPr>
            <p:cNvGrpSpPr/>
            <p:nvPr/>
          </p:nvGrpSpPr>
          <p:grpSpPr>
            <a:xfrm>
              <a:off x="1270326" y="6048000"/>
              <a:ext cx="2247766" cy="540000"/>
              <a:chOff x="1270326" y="6032428"/>
              <a:chExt cx="2247766" cy="540000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BE90B036-E3BB-9659-1D58-86AC9010D64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70326" y="6032428"/>
                <a:ext cx="540000" cy="540000"/>
              </a:xfrm>
              <a:prstGeom prst="ellipse">
                <a:avLst/>
              </a:prstGeom>
              <a:solidFill>
                <a:srgbClr val="6E00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B8FF05CE-6683-D28C-964A-2EB870AE464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97628" y="6032428"/>
                <a:ext cx="540000" cy="540000"/>
              </a:xfrm>
              <a:prstGeom prst="ellipse">
                <a:avLst/>
              </a:prstGeom>
              <a:solidFill>
                <a:srgbClr val="A866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F27279AB-2108-E1C1-2377-854B2F4207C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78092" y="6032428"/>
                <a:ext cx="540000" cy="540000"/>
              </a:xfrm>
              <a:prstGeom prst="ellipse">
                <a:avLst/>
              </a:prstGeom>
              <a:solidFill>
                <a:srgbClr val="E2CC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 dirty="0"/>
              </a:p>
            </p:txBody>
          </p:sp>
        </p:grp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7A976F23-1B69-12B4-7AE6-B2BD3B6A24A1}"/>
              </a:ext>
            </a:extLst>
          </p:cNvPr>
          <p:cNvSpPr txBox="1"/>
          <p:nvPr/>
        </p:nvSpPr>
        <p:spPr>
          <a:xfrm>
            <a:off x="4646645" y="2124226"/>
            <a:ext cx="66573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914400" rtl="1" eaLnBrk="1" latinLnBrk="0" hangingPunct="1"/>
            <a:r>
              <a:rPr lang="he-IL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חלוקה ל-2 צוותים, צוות </a:t>
            </a:r>
            <a:r>
              <a:rPr lang="en-US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frontend</a:t>
            </a:r>
            <a:r>
              <a:rPr lang="he-IL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 וצוות </a:t>
            </a:r>
            <a:r>
              <a:rPr lang="en-US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backend</a:t>
            </a:r>
            <a:r>
              <a:rPr lang="he-IL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.</a:t>
            </a:r>
            <a:br>
              <a:rPr lang="en-US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</a:br>
            <a:r>
              <a:rPr lang="he-IL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לכל צוות יש נציג שמדבר עם עם הצוות השני.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F2F6DFE-DBF9-9FE1-2A40-A99C9EAD88D0}"/>
              </a:ext>
            </a:extLst>
          </p:cNvPr>
          <p:cNvCxnSpPr>
            <a:cxnSpLocks/>
          </p:cNvCxnSpPr>
          <p:nvPr/>
        </p:nvCxnSpPr>
        <p:spPr>
          <a:xfrm>
            <a:off x="4869783" y="2856723"/>
            <a:ext cx="6211078" cy="0"/>
          </a:xfrm>
          <a:prstGeom prst="line">
            <a:avLst/>
          </a:prstGeom>
          <a:ln>
            <a:solidFill>
              <a:srgbClr val="1600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A771235-30F8-DAD0-1B15-9AC45932F4F3}"/>
              </a:ext>
            </a:extLst>
          </p:cNvPr>
          <p:cNvSpPr txBox="1"/>
          <p:nvPr/>
        </p:nvSpPr>
        <p:spPr>
          <a:xfrm>
            <a:off x="4646644" y="2942890"/>
            <a:ext cx="66573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914400" rtl="1" eaLnBrk="1" latinLnBrk="0" hangingPunct="1"/>
            <a:r>
              <a:rPr lang="he-IL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כל תחילת מפגש בדקנו את משימות שבוצעו במפגש הקודם. בדקנו שהם עובדים כמו שצריך,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2730409-E04E-FF68-D949-B7C43C9E102E}"/>
              </a:ext>
            </a:extLst>
          </p:cNvPr>
          <p:cNvCxnSpPr>
            <a:cxnSpLocks/>
          </p:cNvCxnSpPr>
          <p:nvPr/>
        </p:nvCxnSpPr>
        <p:spPr>
          <a:xfrm>
            <a:off x="4869783" y="3675387"/>
            <a:ext cx="6211078" cy="0"/>
          </a:xfrm>
          <a:prstGeom prst="line">
            <a:avLst/>
          </a:prstGeom>
          <a:ln>
            <a:solidFill>
              <a:srgbClr val="1600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048E1E0-1D40-DACD-6A7D-79A27F540705}"/>
              </a:ext>
            </a:extLst>
          </p:cNvPr>
          <p:cNvSpPr txBox="1"/>
          <p:nvPr/>
        </p:nvSpPr>
        <p:spPr>
          <a:xfrm>
            <a:off x="4646644" y="3761554"/>
            <a:ext cx="66573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914400" rtl="1" eaLnBrk="1" latinLnBrk="0" hangingPunct="1"/>
            <a:r>
              <a:rPr lang="he-IL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קבענו משימות שצריך לבצע עד המפגש הבא, איך אנחנו רואים את המימוש להם וקובעים איך הם יעבדו. </a:t>
            </a:r>
          </a:p>
        </p:txBody>
      </p:sp>
      <p:pic>
        <p:nvPicPr>
          <p:cNvPr id="37" name="Graphic 36">
            <a:extLst>
              <a:ext uri="{FF2B5EF4-FFF2-40B4-BE49-F238E27FC236}">
                <a16:creationId xmlns:a16="http://schemas.microsoft.com/office/drawing/2014/main" id="{433F19C8-7B3A-D32D-2CE7-0159CC60FA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7628" y="826712"/>
            <a:ext cx="1967167" cy="1967167"/>
          </a:xfrm>
          <a:prstGeom prst="rect">
            <a:avLst/>
          </a:prstGeom>
        </p:spPr>
      </p:pic>
      <p:pic>
        <p:nvPicPr>
          <p:cNvPr id="6154" name="Picture 10">
            <a:extLst>
              <a:ext uri="{FF2B5EF4-FFF2-40B4-BE49-F238E27FC236}">
                <a16:creationId xmlns:a16="http://schemas.microsoft.com/office/drawing/2014/main" id="{E110E220-2EDA-CF3A-5879-84EB9D55F1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6701" y="2124226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6" name="Picture 12">
            <a:extLst>
              <a:ext uri="{FF2B5EF4-FFF2-40B4-BE49-F238E27FC236}">
                <a16:creationId xmlns:a16="http://schemas.microsoft.com/office/drawing/2014/main" id="{FD1B6404-3451-A27A-3C01-BABC05A646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563" y="3675387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3D2EAA1-9E9C-5D8C-6244-E91A73FEB78C}"/>
              </a:ext>
            </a:extLst>
          </p:cNvPr>
          <p:cNvSpPr/>
          <p:nvPr/>
        </p:nvSpPr>
        <p:spPr>
          <a:xfrm>
            <a:off x="1619980" y="199089"/>
            <a:ext cx="8952036" cy="689070"/>
          </a:xfrm>
          <a:prstGeom prst="roundRect">
            <a:avLst>
              <a:gd name="adj" fmla="val 2020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 sz="3600" b="1" dirty="0">
              <a:solidFill>
                <a:srgbClr val="160033"/>
              </a:solidFill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AA8967-C5AF-EBC1-5E12-5F1F07DD7B24}"/>
              </a:ext>
            </a:extLst>
          </p:cNvPr>
          <p:cNvSpPr txBox="1"/>
          <p:nvPr/>
        </p:nvSpPr>
        <p:spPr>
          <a:xfrm>
            <a:off x="1381898" y="199089"/>
            <a:ext cx="914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4000" b="1" dirty="0">
                <a:solidFill>
                  <a:srgbClr val="160033"/>
                </a:solidFill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ExtraBold" panose="02000009000000000000" pitchFamily="49" charset="0"/>
              </a:rPr>
              <a:t>תהליך עבודה</a:t>
            </a:r>
          </a:p>
        </p:txBody>
      </p:sp>
    </p:spTree>
    <p:extLst>
      <p:ext uri="{BB962C8B-B14F-4D97-AF65-F5344CB8AC3E}">
        <p14:creationId xmlns:p14="http://schemas.microsoft.com/office/powerpoint/2010/main" val="3342504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/>
      <p:bldP spid="35" grpId="0"/>
      <p:bldP spid="7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A90D131-F3B8-CF45-DE3F-392ACB80721B}"/>
              </a:ext>
            </a:extLst>
          </p:cNvPr>
          <p:cNvSpPr/>
          <p:nvPr/>
        </p:nvSpPr>
        <p:spPr>
          <a:xfrm>
            <a:off x="6972001" y="1361279"/>
            <a:ext cx="4320000" cy="4135437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IL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CF96AE-1489-2760-0385-C6DD546FAC23}"/>
              </a:ext>
            </a:extLst>
          </p:cNvPr>
          <p:cNvSpPr txBox="1"/>
          <p:nvPr/>
        </p:nvSpPr>
        <p:spPr>
          <a:xfrm>
            <a:off x="6972002" y="1485176"/>
            <a:ext cx="43199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3200" b="1" dirty="0"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Medium" panose="02000009000000000000" pitchFamily="49" charset="0"/>
              </a:rPr>
              <a:t>זמני עבודה</a:t>
            </a:r>
            <a:endParaRPr lang="en-IL" sz="3200" b="1" dirty="0"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FE8D58-143B-4CA9-69A5-9C2D6048380C}"/>
              </a:ext>
            </a:extLst>
          </p:cNvPr>
          <p:cNvSpPr txBox="1"/>
          <p:nvPr/>
        </p:nvSpPr>
        <p:spPr>
          <a:xfrm>
            <a:off x="6972000" y="2069953"/>
            <a:ext cx="4319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b="1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Medium" panose="02000009000000000000" pitchFamily="49" charset="0"/>
              </a:rPr>
              <a:t>בתחילת הפרויקט קבענו שעות וימים קבועים</a:t>
            </a:r>
            <a:endParaRPr lang="en-IL" b="1" dirty="0">
              <a:latin typeface="JetBrainsMono NF SemiBold" panose="02000009000000000000" pitchFamily="49" charset="0"/>
              <a:ea typeface="JetBrainsMono NF SemiBold" panose="02000009000000000000" pitchFamily="49" charset="0"/>
              <a:cs typeface="JetBrainsMono NF SemiBold" panose="02000009000000000000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14EDF2-A6C3-793D-E6AD-7D671AE1A69A}"/>
              </a:ext>
            </a:extLst>
          </p:cNvPr>
          <p:cNvSpPr txBox="1"/>
          <p:nvPr/>
        </p:nvSpPr>
        <p:spPr>
          <a:xfrm>
            <a:off x="6972000" y="3147058"/>
            <a:ext cx="38272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b="1" u="sng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Medium" panose="02000009000000000000" pitchFamily="49" charset="0"/>
              </a:rPr>
              <a:t>רצוי</a:t>
            </a:r>
          </a:p>
          <a:p>
            <a:pPr algn="r" rtl="1"/>
            <a:r>
              <a:rPr lang="he-IL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היה רוצי לעובד לפי השעות שנקבו</a:t>
            </a:r>
            <a:endParaRPr lang="en-IL" dirty="0">
              <a:latin typeface="JetBrainsMono NF Medium" panose="02000009000000000000" pitchFamily="49" charset="0"/>
              <a:ea typeface="JetBrainsMono NF Medium" panose="02000009000000000000" pitchFamily="49" charset="0"/>
              <a:cs typeface="JetBrainsMono NF Medium" panose="02000009000000000000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5F67621-A2C1-FE18-2A66-393057336837}"/>
              </a:ext>
            </a:extLst>
          </p:cNvPr>
          <p:cNvSpPr txBox="1"/>
          <p:nvPr/>
        </p:nvSpPr>
        <p:spPr>
          <a:xfrm>
            <a:off x="6972000" y="4133346"/>
            <a:ext cx="38272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b="1" u="sng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Medium" panose="02000009000000000000" pitchFamily="49" charset="0"/>
              </a:rPr>
              <a:t>מצוי</a:t>
            </a:r>
          </a:p>
          <a:p>
            <a:pPr algn="r" rtl="1"/>
            <a:r>
              <a:rPr lang="he-IL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היו הרבה מפגשים שלא קרו או שלא כולם היו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5010199-6652-D693-620E-C70F9365A090}"/>
              </a:ext>
            </a:extLst>
          </p:cNvPr>
          <p:cNvGrpSpPr>
            <a:grpSpLocks noChangeAspect="1"/>
          </p:cNvGrpSpPr>
          <p:nvPr/>
        </p:nvGrpSpPr>
        <p:grpSpPr>
          <a:xfrm>
            <a:off x="10863797" y="3147058"/>
            <a:ext cx="349704" cy="360000"/>
            <a:chOff x="11219900" y="3132690"/>
            <a:chExt cx="540000" cy="555899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FCA4990-AAE1-2B5E-3DF7-0AB599EAC8C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19900" y="3132690"/>
              <a:ext cx="540000" cy="540000"/>
            </a:xfrm>
            <a:prstGeom prst="ellipse">
              <a:avLst/>
            </a:prstGeom>
            <a:solidFill>
              <a:srgbClr val="A866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l" defTabSz="914400" rtl="0" eaLnBrk="1" latinLnBrk="0" hangingPunct="1"/>
              <a:endParaRPr lang="en-IL"/>
            </a:p>
          </p:txBody>
        </p:sp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993D5CA5-CA3C-5178-1312-B3F67A285F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35900" y="3180589"/>
              <a:ext cx="508000" cy="508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6451CDA-A26F-19A9-71BB-8569353E857B}"/>
              </a:ext>
            </a:extLst>
          </p:cNvPr>
          <p:cNvGrpSpPr>
            <a:grpSpLocks noChangeAspect="1"/>
          </p:cNvGrpSpPr>
          <p:nvPr/>
        </p:nvGrpSpPr>
        <p:grpSpPr>
          <a:xfrm>
            <a:off x="10881127" y="4133346"/>
            <a:ext cx="353847" cy="360000"/>
            <a:chOff x="8683536" y="4143856"/>
            <a:chExt cx="540820" cy="550224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9E14C6F-8BDA-8AC4-6154-5E9BDD212E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84356" y="4154080"/>
              <a:ext cx="540000" cy="540000"/>
            </a:xfrm>
            <a:prstGeom prst="ellipse">
              <a:avLst/>
            </a:prstGeom>
            <a:solidFill>
              <a:srgbClr val="6E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r" defTabSz="914400" rtl="1" eaLnBrk="1" latinLnBrk="0" hangingPunct="1"/>
              <a:endParaRPr lang="en-IL"/>
            </a:p>
          </p:txBody>
        </p:sp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635C2954-D3DD-2BCC-B3CE-9910A2D74D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83536" y="4143856"/>
              <a:ext cx="508000" cy="508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F18E33C9-66DF-FBB0-D68D-73AB9EEC5A07}"/>
              </a:ext>
            </a:extLst>
          </p:cNvPr>
          <p:cNvSpPr/>
          <p:nvPr/>
        </p:nvSpPr>
        <p:spPr>
          <a:xfrm>
            <a:off x="900000" y="1361279"/>
            <a:ext cx="4320000" cy="4135437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IL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7AC1F5-162F-E677-8E9F-C52DBF9A4EFD}"/>
              </a:ext>
            </a:extLst>
          </p:cNvPr>
          <p:cNvSpPr txBox="1"/>
          <p:nvPr/>
        </p:nvSpPr>
        <p:spPr>
          <a:xfrm>
            <a:off x="901350" y="1485176"/>
            <a:ext cx="4318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3200" b="1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SemiBold" panose="02000009000000000000" pitchFamily="49" charset="0"/>
              </a:rPr>
              <a:t>פערי ידע</a:t>
            </a:r>
            <a:endParaRPr lang="en-IL" sz="3200" b="1" dirty="0">
              <a:latin typeface="JetBrainsMono NF SemiBold" panose="02000009000000000000" pitchFamily="49" charset="0"/>
              <a:ea typeface="JetBrainsMono NF SemiBold" panose="02000009000000000000" pitchFamily="49" charset="0"/>
              <a:cs typeface="JetBrainsMono NF SemiBold" panose="02000009000000000000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DDB5FDF-B1C9-1D9D-ED42-73CAB191ED50}"/>
              </a:ext>
            </a:extLst>
          </p:cNvPr>
          <p:cNvSpPr txBox="1"/>
          <p:nvPr/>
        </p:nvSpPr>
        <p:spPr>
          <a:xfrm>
            <a:off x="899998" y="2069951"/>
            <a:ext cx="43200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b="1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Medium" panose="02000009000000000000" pitchFamily="49" charset="0"/>
              </a:rPr>
              <a:t>בתחילת הפרויקט קבענו לדווח אם יש לנו פערי ידע</a:t>
            </a:r>
            <a:endParaRPr lang="en-IL" b="1" dirty="0">
              <a:latin typeface="JetBrainsMono NF SemiBold" panose="02000009000000000000" pitchFamily="49" charset="0"/>
              <a:ea typeface="JetBrainsMono NF SemiBold" panose="02000009000000000000" pitchFamily="49" charset="0"/>
              <a:cs typeface="JetBrainsMono NF SemiBold" panose="02000009000000000000" pitchFamily="49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B090E7-6097-FC55-7932-55E536358583}"/>
              </a:ext>
            </a:extLst>
          </p:cNvPr>
          <p:cNvSpPr txBox="1"/>
          <p:nvPr/>
        </p:nvSpPr>
        <p:spPr>
          <a:xfrm>
            <a:off x="899146" y="3147058"/>
            <a:ext cx="38272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b="1" u="sng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Medium" panose="02000009000000000000" pitchFamily="49" charset="0"/>
              </a:rPr>
              <a:t>רצוי</a:t>
            </a:r>
          </a:p>
          <a:p>
            <a:pPr algn="r" rtl="1"/>
            <a:r>
              <a:rPr lang="he-IL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שמי היה נחוץ בעזרה היה מבקש אותה</a:t>
            </a:r>
            <a:endParaRPr lang="en-IL" dirty="0">
              <a:latin typeface="JetBrainsMono NF Medium" panose="02000009000000000000" pitchFamily="49" charset="0"/>
              <a:ea typeface="JetBrainsMono NF Medium" panose="02000009000000000000" pitchFamily="49" charset="0"/>
              <a:cs typeface="JetBrainsMono NF Medium" panose="02000009000000000000" pitchFamily="49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6196B91-693A-9D37-5F45-8200A8338B09}"/>
              </a:ext>
            </a:extLst>
          </p:cNvPr>
          <p:cNvSpPr txBox="1"/>
          <p:nvPr/>
        </p:nvSpPr>
        <p:spPr>
          <a:xfrm>
            <a:off x="899146" y="4133346"/>
            <a:ext cx="38272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b="1" u="sng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Medium" panose="02000009000000000000" pitchFamily="49" charset="0"/>
              </a:rPr>
              <a:t>מצוי</a:t>
            </a:r>
          </a:p>
          <a:p>
            <a:pPr algn="r" rtl="1"/>
            <a:r>
              <a:rPr lang="he-IL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התגלה שיש לאחד חברי הצוות פער ידע אחרי שהתחלנו לעבוד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D9428E8-6A19-2E51-435E-BF68F9423E6D}"/>
              </a:ext>
            </a:extLst>
          </p:cNvPr>
          <p:cNvGrpSpPr>
            <a:grpSpLocks noChangeAspect="1"/>
          </p:cNvGrpSpPr>
          <p:nvPr/>
        </p:nvGrpSpPr>
        <p:grpSpPr>
          <a:xfrm>
            <a:off x="4790943" y="3147058"/>
            <a:ext cx="349704" cy="360000"/>
            <a:chOff x="11219900" y="3132690"/>
            <a:chExt cx="540000" cy="555899"/>
          </a:xfrm>
        </p:grpSpPr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D9ABF0D-034E-5C38-933C-8221E50661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19900" y="3132690"/>
              <a:ext cx="540000" cy="540000"/>
            </a:xfrm>
            <a:prstGeom prst="ellipse">
              <a:avLst/>
            </a:prstGeom>
            <a:solidFill>
              <a:srgbClr val="A866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l" defTabSz="914400" rtl="0" eaLnBrk="1" latinLnBrk="0" hangingPunct="1"/>
              <a:endParaRPr lang="en-IL"/>
            </a:p>
          </p:txBody>
        </p:sp>
        <p:pic>
          <p:nvPicPr>
            <p:cNvPr id="54" name="Picture 2">
              <a:extLst>
                <a:ext uri="{FF2B5EF4-FFF2-40B4-BE49-F238E27FC236}">
                  <a16:creationId xmlns:a16="http://schemas.microsoft.com/office/drawing/2014/main" id="{494EEA65-D0D6-44C7-CB8F-26C5643D95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35900" y="3180589"/>
              <a:ext cx="508000" cy="508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3069AEE-D426-7B28-6823-2A33FB7974C7}"/>
              </a:ext>
            </a:extLst>
          </p:cNvPr>
          <p:cNvGrpSpPr>
            <a:grpSpLocks noChangeAspect="1"/>
          </p:cNvGrpSpPr>
          <p:nvPr/>
        </p:nvGrpSpPr>
        <p:grpSpPr>
          <a:xfrm>
            <a:off x="4808273" y="4133346"/>
            <a:ext cx="353847" cy="360000"/>
            <a:chOff x="8683536" y="4143856"/>
            <a:chExt cx="540820" cy="550224"/>
          </a:xfrm>
        </p:grpSpPr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802FB09E-E3D4-807E-73BA-2FB503A7D2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84356" y="4154080"/>
              <a:ext cx="540000" cy="540000"/>
            </a:xfrm>
            <a:prstGeom prst="ellipse">
              <a:avLst/>
            </a:prstGeom>
            <a:solidFill>
              <a:srgbClr val="6E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r" defTabSz="914400" rtl="1" eaLnBrk="1" latinLnBrk="0" hangingPunct="1"/>
              <a:endParaRPr lang="en-IL"/>
            </a:p>
          </p:txBody>
        </p:sp>
        <p:pic>
          <p:nvPicPr>
            <p:cNvPr id="57" name="Picture 4">
              <a:extLst>
                <a:ext uri="{FF2B5EF4-FFF2-40B4-BE49-F238E27FC236}">
                  <a16:creationId xmlns:a16="http://schemas.microsoft.com/office/drawing/2014/main" id="{B1A32BBA-8007-FBF0-AAD3-400335B07C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83536" y="4143856"/>
              <a:ext cx="508000" cy="508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476D44D-5143-8B77-7581-407B93037AC0}"/>
              </a:ext>
            </a:extLst>
          </p:cNvPr>
          <p:cNvGrpSpPr/>
          <p:nvPr/>
        </p:nvGrpSpPr>
        <p:grpSpPr>
          <a:xfrm>
            <a:off x="0" y="5778000"/>
            <a:ext cx="3518092" cy="1080000"/>
            <a:chOff x="0" y="5778000"/>
            <a:chExt cx="3518092" cy="1080000"/>
          </a:xfrm>
        </p:grpSpPr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4387CC0C-A69C-84F2-8D48-72350773DA4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5778000"/>
              <a:ext cx="1080000" cy="1080000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2815C1-1FE1-724C-BC6D-FA3BC5C511D1}"/>
                </a:ext>
              </a:extLst>
            </p:cNvPr>
            <p:cNvGrpSpPr/>
            <p:nvPr/>
          </p:nvGrpSpPr>
          <p:grpSpPr>
            <a:xfrm>
              <a:off x="1270326" y="6048000"/>
              <a:ext cx="2247766" cy="540000"/>
              <a:chOff x="1270326" y="6032428"/>
              <a:chExt cx="2247766" cy="54000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7384CAC5-4EFC-E26A-F133-B692A66B7A8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70326" y="6032428"/>
                <a:ext cx="540000" cy="540000"/>
              </a:xfrm>
              <a:prstGeom prst="ellipse">
                <a:avLst/>
              </a:prstGeom>
              <a:solidFill>
                <a:srgbClr val="6E00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7B2E674A-2F96-E2A6-B7BD-08B9C2E81D8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97628" y="6032428"/>
                <a:ext cx="540000" cy="540000"/>
              </a:xfrm>
              <a:prstGeom prst="ellipse">
                <a:avLst/>
              </a:prstGeom>
              <a:solidFill>
                <a:srgbClr val="A866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ECE6B2E1-E9FB-FBAC-1C05-6BD529B036E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78092" y="6032428"/>
                <a:ext cx="540000" cy="540000"/>
              </a:xfrm>
              <a:prstGeom prst="ellipse">
                <a:avLst/>
              </a:prstGeom>
              <a:solidFill>
                <a:srgbClr val="E2CC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 dirty="0"/>
              </a:p>
            </p:txBody>
          </p:sp>
        </p:grpSp>
      </p:grp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DAF92FD-48AD-15FA-5E33-BD9F043D38BE}"/>
              </a:ext>
            </a:extLst>
          </p:cNvPr>
          <p:cNvSpPr/>
          <p:nvPr/>
        </p:nvSpPr>
        <p:spPr>
          <a:xfrm>
            <a:off x="1619980" y="199089"/>
            <a:ext cx="8952036" cy="689070"/>
          </a:xfrm>
          <a:prstGeom prst="roundRect">
            <a:avLst>
              <a:gd name="adj" fmla="val 2020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 sz="3600" b="1" dirty="0">
              <a:solidFill>
                <a:srgbClr val="160033"/>
              </a:solidFill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5C74E7-8331-C168-C756-E9E9B78ECB7D}"/>
              </a:ext>
            </a:extLst>
          </p:cNvPr>
          <p:cNvSpPr txBox="1"/>
          <p:nvPr/>
        </p:nvSpPr>
        <p:spPr>
          <a:xfrm>
            <a:off x="1381898" y="199089"/>
            <a:ext cx="914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4000" b="1" dirty="0">
                <a:solidFill>
                  <a:srgbClr val="160033"/>
                </a:solidFill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ExtraBold" panose="02000009000000000000" pitchFamily="49" charset="0"/>
              </a:rPr>
              <a:t>סיכונים שקרו</a:t>
            </a:r>
          </a:p>
        </p:txBody>
      </p:sp>
    </p:spTree>
    <p:extLst>
      <p:ext uri="{BB962C8B-B14F-4D97-AF65-F5344CB8AC3E}">
        <p14:creationId xmlns:p14="http://schemas.microsoft.com/office/powerpoint/2010/main" val="21592410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3" grpId="0"/>
      <p:bldP spid="19" grpId="0"/>
      <p:bldP spid="22" grpId="0"/>
      <p:bldP spid="45" grpId="0" animBg="1"/>
      <p:bldP spid="14" grpId="0"/>
      <p:bldP spid="42" grpId="0"/>
      <p:bldP spid="50" grpId="0"/>
      <p:bldP spid="5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468DD22D-B6B7-33E8-F708-24AD11DD50E2}"/>
              </a:ext>
            </a:extLst>
          </p:cNvPr>
          <p:cNvSpPr/>
          <p:nvPr/>
        </p:nvSpPr>
        <p:spPr>
          <a:xfrm>
            <a:off x="6984000" y="1268999"/>
            <a:ext cx="4320000" cy="2394821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IL" dirty="0">
              <a:solidFill>
                <a:srgbClr val="0F0024"/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8A70FBB-DD8A-2F25-4F7E-F338E6ADB852}"/>
              </a:ext>
            </a:extLst>
          </p:cNvPr>
          <p:cNvSpPr/>
          <p:nvPr/>
        </p:nvSpPr>
        <p:spPr>
          <a:xfrm>
            <a:off x="888000" y="1268999"/>
            <a:ext cx="4320000" cy="2394821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l" defTabSz="914400" rtl="0" eaLnBrk="1" latinLnBrk="0" hangingPunct="1"/>
            <a:endParaRPr lang="en-IL" dirty="0">
              <a:solidFill>
                <a:srgbClr val="0F0024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71870E3-766C-C420-E6C4-06A26D9AE04A}"/>
              </a:ext>
            </a:extLst>
          </p:cNvPr>
          <p:cNvGrpSpPr/>
          <p:nvPr/>
        </p:nvGrpSpPr>
        <p:grpSpPr>
          <a:xfrm>
            <a:off x="0" y="5778000"/>
            <a:ext cx="3518092" cy="1080000"/>
            <a:chOff x="0" y="5778000"/>
            <a:chExt cx="3518092" cy="108000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36D2094-7EE0-340C-F190-31AB2BCB1E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5778000"/>
              <a:ext cx="1080000" cy="1080000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96222A9-6EF9-5904-361A-331D4D4505EE}"/>
                </a:ext>
              </a:extLst>
            </p:cNvPr>
            <p:cNvGrpSpPr/>
            <p:nvPr/>
          </p:nvGrpSpPr>
          <p:grpSpPr>
            <a:xfrm>
              <a:off x="1270326" y="6048000"/>
              <a:ext cx="2247766" cy="540000"/>
              <a:chOff x="1270326" y="6032428"/>
              <a:chExt cx="2247766" cy="540000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1B392D6-93B3-4881-BC97-AAE875B6462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70326" y="6032428"/>
                <a:ext cx="540000" cy="540000"/>
              </a:xfrm>
              <a:prstGeom prst="ellipse">
                <a:avLst/>
              </a:prstGeom>
              <a:solidFill>
                <a:srgbClr val="6E00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>
                  <a:solidFill>
                    <a:srgbClr val="0F0024"/>
                  </a:solidFill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4129FED-C47C-B451-42D1-1931F2B48B5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97628" y="6032428"/>
                <a:ext cx="540000" cy="540000"/>
              </a:xfrm>
              <a:prstGeom prst="ellipse">
                <a:avLst/>
              </a:prstGeom>
              <a:solidFill>
                <a:srgbClr val="A866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>
                  <a:solidFill>
                    <a:srgbClr val="0F0024"/>
                  </a:solidFill>
                </a:endParaRP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2E267FAF-A0AC-FECC-F68D-D908ABCB2B4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78092" y="6032428"/>
                <a:ext cx="540000" cy="540000"/>
              </a:xfrm>
              <a:prstGeom prst="ellipse">
                <a:avLst/>
              </a:prstGeom>
              <a:solidFill>
                <a:srgbClr val="E2CC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 dirty="0">
                  <a:solidFill>
                    <a:srgbClr val="0F0024"/>
                  </a:solidFill>
                </a:endParaRPr>
              </a:p>
            </p:txBody>
          </p: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2E74080-1B03-05B6-8FB3-659A3A982286}"/>
              </a:ext>
            </a:extLst>
          </p:cNvPr>
          <p:cNvSpPr txBox="1"/>
          <p:nvPr/>
        </p:nvSpPr>
        <p:spPr>
          <a:xfrm>
            <a:off x="6991730" y="1404225"/>
            <a:ext cx="43122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3200" b="1" dirty="0">
                <a:solidFill>
                  <a:srgbClr val="0F0024"/>
                </a:solidFill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ExtraBold" panose="02000009000000000000" pitchFamily="49" charset="0"/>
              </a:rPr>
              <a:t>לקוח מזדמן ב-</a:t>
            </a:r>
            <a:r>
              <a:rPr lang="en-US" sz="3200" b="1" dirty="0">
                <a:solidFill>
                  <a:srgbClr val="0F0024"/>
                </a:solidFill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ExtraBold" panose="02000009000000000000" pitchFamily="49" charset="0"/>
              </a:rPr>
              <a:t>DB</a:t>
            </a:r>
            <a:endParaRPr lang="en-IL" sz="3200" b="1" dirty="0">
              <a:solidFill>
                <a:srgbClr val="0F0024"/>
              </a:solidFill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779120-999E-C41D-2FF4-9B250ED5AF20}"/>
              </a:ext>
            </a:extLst>
          </p:cNvPr>
          <p:cNvSpPr txBox="1"/>
          <p:nvPr/>
        </p:nvSpPr>
        <p:spPr>
          <a:xfrm>
            <a:off x="888000" y="1404224"/>
            <a:ext cx="43122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3200" b="1" dirty="0">
                <a:solidFill>
                  <a:srgbClr val="0F0024"/>
                </a:solidFill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ExtraBold" panose="02000009000000000000" pitchFamily="49" charset="0"/>
              </a:rPr>
              <a:t>אין לו זכות קיום</a:t>
            </a:r>
            <a:endParaRPr lang="en-IL" sz="3200" b="1" dirty="0">
              <a:solidFill>
                <a:srgbClr val="0F0024"/>
              </a:solidFill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99F718-ED87-4E59-2161-1F9A3B669B24}"/>
              </a:ext>
            </a:extLst>
          </p:cNvPr>
          <p:cNvSpPr txBox="1"/>
          <p:nvPr/>
        </p:nvSpPr>
        <p:spPr>
          <a:xfrm>
            <a:off x="6970223" y="2124226"/>
            <a:ext cx="4333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914400" rtl="1" eaLnBrk="1" latinLnBrk="0" hangingPunct="1"/>
            <a:r>
              <a:rPr lang="he-IL" dirty="0">
                <a:solidFill>
                  <a:srgbClr val="0F0024"/>
                </a:solidFill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לפי הסיפור יש ישות של לקוח מזדמן.</a:t>
            </a:r>
          </a:p>
          <a:p>
            <a:pPr marL="0" algn="r" defTabSz="914400" rtl="1" eaLnBrk="1" latinLnBrk="0" hangingPunct="1"/>
            <a:r>
              <a:rPr lang="he-IL" dirty="0">
                <a:solidFill>
                  <a:srgbClr val="0F0024"/>
                </a:solidFill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כלומר אנחנו צרכים לשמור אותה במסד נתונים ולעבוד איתה בפרויקט.</a:t>
            </a:r>
          </a:p>
          <a:p>
            <a:pPr marL="0" algn="r" defTabSz="914400" rtl="1" eaLnBrk="1" latinLnBrk="0" hangingPunct="1"/>
            <a:endParaRPr lang="en-IL" dirty="0">
              <a:solidFill>
                <a:srgbClr val="0F0024"/>
              </a:solidFill>
              <a:latin typeface="JetBrainsMono NF Medium" panose="02000009000000000000" pitchFamily="49" charset="0"/>
              <a:ea typeface="JetBrainsMono NF Medium" panose="02000009000000000000" pitchFamily="49" charset="0"/>
              <a:cs typeface="JetBrainsMono NF Medium" panose="02000009000000000000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8E95A3-DB95-E688-946F-726685730A31}"/>
              </a:ext>
            </a:extLst>
          </p:cNvPr>
          <p:cNvSpPr txBox="1"/>
          <p:nvPr/>
        </p:nvSpPr>
        <p:spPr>
          <a:xfrm>
            <a:off x="866493" y="2124224"/>
            <a:ext cx="4333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914400" rtl="1" eaLnBrk="1" latinLnBrk="0" hangingPunct="1"/>
            <a:r>
              <a:rPr lang="he-IL" dirty="0">
                <a:solidFill>
                  <a:srgbClr val="0F0024"/>
                </a:solidFill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לקוח מזדמן אין לו זכות קיום בלי ההזמנה שלו ולכן אין צורך לשמור אותו בנפרד מההזמנה ולכן אין צרוך שנשמור אותו במסד נתונים</a:t>
            </a:r>
          </a:p>
          <a:p>
            <a:pPr marL="0" algn="r" defTabSz="914400" rtl="1" eaLnBrk="1" latinLnBrk="0" hangingPunct="1"/>
            <a:endParaRPr lang="en-IL" dirty="0">
              <a:solidFill>
                <a:srgbClr val="0F0024"/>
              </a:solidFill>
              <a:latin typeface="JetBrainsMono NF Medium" panose="02000009000000000000" pitchFamily="49" charset="0"/>
              <a:ea typeface="JetBrainsMono NF Medium" panose="02000009000000000000" pitchFamily="49" charset="0"/>
              <a:cs typeface="JetBrainsMono NF Medium" panose="02000009000000000000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22EEB0-EC21-5F5A-36E1-10168B73E584}"/>
              </a:ext>
            </a:extLst>
          </p:cNvPr>
          <p:cNvSpPr txBox="1"/>
          <p:nvPr/>
        </p:nvSpPr>
        <p:spPr>
          <a:xfrm>
            <a:off x="5588489" y="2004744"/>
            <a:ext cx="101502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algn="l" defTabSz="914400" rtl="0" eaLnBrk="1" latinLnBrk="0" hangingPunct="1"/>
            <a:r>
              <a:rPr lang="en-IL" sz="5400" b="1" dirty="0">
                <a:solidFill>
                  <a:srgbClr val="0F0024"/>
                </a:solidFill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ExtraBold" panose="02000009000000000000" pitchFamily="49" charset="0"/>
              </a:rPr>
              <a:t>VS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B1925D9C-6BF1-1B23-F9C0-463562C2E9EA}"/>
              </a:ext>
            </a:extLst>
          </p:cNvPr>
          <p:cNvSpPr/>
          <p:nvPr/>
        </p:nvSpPr>
        <p:spPr>
          <a:xfrm>
            <a:off x="3495767" y="3893082"/>
            <a:ext cx="5200464" cy="1884918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IL" dirty="0">
              <a:solidFill>
                <a:srgbClr val="0F0024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078C08-6AAE-3BA7-B49E-5A6BF4302612}"/>
              </a:ext>
            </a:extLst>
          </p:cNvPr>
          <p:cNvSpPr txBox="1"/>
          <p:nvPr/>
        </p:nvSpPr>
        <p:spPr>
          <a:xfrm>
            <a:off x="3495767" y="4107814"/>
            <a:ext cx="52004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914400" rtl="1" eaLnBrk="1" latinLnBrk="0" hangingPunct="1"/>
            <a:r>
              <a:rPr lang="he-IL" dirty="0">
                <a:solidFill>
                  <a:srgbClr val="0F0024"/>
                </a:solidFill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בהתחלה החלטנו לממש את 2 הרעיונות בנפרד וביקשנו חוות דעת של מרצה. התשובה הייתה שללקוח מזדמן אין זכות קיום במסד נתונים ועל כך החלטנו לא לשמור אותו שם </a:t>
            </a:r>
            <a:endParaRPr lang="en-IL" dirty="0">
              <a:solidFill>
                <a:srgbClr val="0F0024"/>
              </a:solidFill>
              <a:latin typeface="JetBrainsMono NF Medium" panose="02000009000000000000" pitchFamily="49" charset="0"/>
              <a:ea typeface="JetBrainsMono NF Medium" panose="02000009000000000000" pitchFamily="49" charset="0"/>
              <a:cs typeface="JetBrainsMono NF Medium" panose="02000009000000000000" pitchFamily="49" charset="0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6B2F822-6F63-C3A9-6F00-A7889C6DC442}"/>
              </a:ext>
            </a:extLst>
          </p:cNvPr>
          <p:cNvSpPr/>
          <p:nvPr/>
        </p:nvSpPr>
        <p:spPr>
          <a:xfrm>
            <a:off x="1619980" y="199089"/>
            <a:ext cx="8952036" cy="689070"/>
          </a:xfrm>
          <a:prstGeom prst="roundRect">
            <a:avLst>
              <a:gd name="adj" fmla="val 2020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 sz="3600" b="1" dirty="0">
              <a:solidFill>
                <a:srgbClr val="160033"/>
              </a:solidFill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95CB27-A489-E622-FFFC-D4076C71D219}"/>
              </a:ext>
            </a:extLst>
          </p:cNvPr>
          <p:cNvSpPr txBox="1"/>
          <p:nvPr/>
        </p:nvSpPr>
        <p:spPr>
          <a:xfrm>
            <a:off x="1381898" y="199089"/>
            <a:ext cx="914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4000" b="1" dirty="0">
                <a:solidFill>
                  <a:srgbClr val="160033"/>
                </a:solidFill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ExtraBold" panose="02000009000000000000" pitchFamily="49" charset="0"/>
              </a:rPr>
              <a:t>החלטות שעלו לנו לדיון</a:t>
            </a:r>
          </a:p>
        </p:txBody>
      </p:sp>
    </p:spTree>
    <p:extLst>
      <p:ext uri="{BB962C8B-B14F-4D97-AF65-F5344CB8AC3E}">
        <p14:creationId xmlns:p14="http://schemas.microsoft.com/office/powerpoint/2010/main" val="12644781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11" grpId="0"/>
      <p:bldP spid="12" grpId="0"/>
      <p:bldP spid="14" grpId="0"/>
      <p:bldP spid="15" grpId="0"/>
      <p:bldP spid="16" grpId="0"/>
      <p:bldP spid="17" grpId="0" animBg="1"/>
      <p:bldP spid="1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0F85B-E37B-CE68-D5DF-122957527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2085720-E34C-0C0C-233B-6E525AD66D6B}"/>
              </a:ext>
            </a:extLst>
          </p:cNvPr>
          <p:cNvSpPr/>
          <p:nvPr/>
        </p:nvSpPr>
        <p:spPr>
          <a:xfrm>
            <a:off x="7151951" y="2401222"/>
            <a:ext cx="4320000" cy="2055556"/>
          </a:xfrm>
          <a:prstGeom prst="roundRect">
            <a:avLst>
              <a:gd name="adj" fmla="val 8916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IL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D9EC5E3-543D-01B0-C367-BDC888E258DF}"/>
              </a:ext>
            </a:extLst>
          </p:cNvPr>
          <p:cNvGrpSpPr/>
          <p:nvPr/>
        </p:nvGrpSpPr>
        <p:grpSpPr>
          <a:xfrm>
            <a:off x="0" y="5778000"/>
            <a:ext cx="3518092" cy="1080000"/>
            <a:chOff x="0" y="5778000"/>
            <a:chExt cx="3518092" cy="108000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ACFA75B-38F5-340E-5672-0496A93312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5778000"/>
              <a:ext cx="1080000" cy="1080000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E723A7E-6F06-F8F2-36DE-0F164BC0975F}"/>
                </a:ext>
              </a:extLst>
            </p:cNvPr>
            <p:cNvGrpSpPr/>
            <p:nvPr/>
          </p:nvGrpSpPr>
          <p:grpSpPr>
            <a:xfrm>
              <a:off x="1270326" y="6048000"/>
              <a:ext cx="2247766" cy="540000"/>
              <a:chOff x="1270326" y="6032428"/>
              <a:chExt cx="2247766" cy="540000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1D6ABA6A-9094-4D81-5460-1AEB1698160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70326" y="6032428"/>
                <a:ext cx="540000" cy="540000"/>
              </a:xfrm>
              <a:prstGeom prst="ellipse">
                <a:avLst/>
              </a:prstGeom>
              <a:solidFill>
                <a:srgbClr val="6E00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1FBEB032-4D07-01CA-6022-22481AA0920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97628" y="6032428"/>
                <a:ext cx="540000" cy="540000"/>
              </a:xfrm>
              <a:prstGeom prst="ellipse">
                <a:avLst/>
              </a:prstGeom>
              <a:solidFill>
                <a:srgbClr val="A866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917EAEC7-B5D1-0F60-8082-3BA6237F764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78092" y="6032428"/>
                <a:ext cx="540000" cy="540000"/>
              </a:xfrm>
              <a:prstGeom prst="ellipse">
                <a:avLst/>
              </a:prstGeom>
              <a:solidFill>
                <a:srgbClr val="E2CC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 dirty="0"/>
              </a:p>
            </p:txBody>
          </p: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2E23BDD6-17A7-5568-3D0B-C6231482AC5F}"/>
              </a:ext>
            </a:extLst>
          </p:cNvPr>
          <p:cNvSpPr txBox="1"/>
          <p:nvPr/>
        </p:nvSpPr>
        <p:spPr>
          <a:xfrm>
            <a:off x="7159681" y="2536447"/>
            <a:ext cx="43122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3200" b="1" dirty="0"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ExtraBold" panose="02000009000000000000" pitchFamily="49" charset="0"/>
              </a:rPr>
              <a:t>דוחות</a:t>
            </a:r>
            <a:endParaRPr lang="en-IL" sz="3200" b="1" dirty="0"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9466D8-58DA-49FD-56E2-19758E60F632}"/>
              </a:ext>
            </a:extLst>
          </p:cNvPr>
          <p:cNvSpPr txBox="1"/>
          <p:nvPr/>
        </p:nvSpPr>
        <p:spPr>
          <a:xfrm>
            <a:off x="7138174" y="3256448"/>
            <a:ext cx="43337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914400" rtl="1" eaLnBrk="1" latinLnBrk="0" hangingPunct="1"/>
            <a:r>
              <a:rPr lang="he-IL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דילמה נוספת הייתה לגבי הדוחות איזה גרפים ומידע אנחנו צריכים להשתמש ואיזה גרפים קיימים ב</a:t>
            </a:r>
            <a:r>
              <a:rPr lang="en-US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JAVAFX-</a:t>
            </a:r>
            <a:r>
              <a:rPr lang="he-IL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.</a:t>
            </a:r>
            <a:endParaRPr lang="en-IL" dirty="0">
              <a:latin typeface="JetBrainsMono NF Medium" panose="02000009000000000000" pitchFamily="49" charset="0"/>
              <a:ea typeface="JetBrainsMono NF Medium" panose="02000009000000000000" pitchFamily="49" charset="0"/>
              <a:cs typeface="JetBrainsMono NF Medium" panose="02000009000000000000" pitchFamily="49" charset="0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A0DFCFA-7160-9CCC-272C-C19A4AC506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640" y="1025570"/>
            <a:ext cx="3691631" cy="282508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060CF67-222F-B796-6415-9D24CEF15B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3001" y="2125361"/>
            <a:ext cx="2876958" cy="3450585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A6FF012-21F5-B0A5-A04B-4FE84CC7DF96}"/>
              </a:ext>
            </a:extLst>
          </p:cNvPr>
          <p:cNvSpPr/>
          <p:nvPr/>
        </p:nvSpPr>
        <p:spPr>
          <a:xfrm>
            <a:off x="1619980" y="199089"/>
            <a:ext cx="8952036" cy="689070"/>
          </a:xfrm>
          <a:prstGeom prst="roundRect">
            <a:avLst>
              <a:gd name="adj" fmla="val 2020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 sz="3600" b="1" dirty="0">
              <a:solidFill>
                <a:srgbClr val="160033"/>
              </a:solidFill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074FC9-1C38-CAA4-A07F-4442950AA8C8}"/>
              </a:ext>
            </a:extLst>
          </p:cNvPr>
          <p:cNvSpPr txBox="1"/>
          <p:nvPr/>
        </p:nvSpPr>
        <p:spPr>
          <a:xfrm>
            <a:off x="1381898" y="199089"/>
            <a:ext cx="914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4000" b="1" dirty="0">
                <a:solidFill>
                  <a:srgbClr val="160033"/>
                </a:solidFill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ExtraBold" panose="02000009000000000000" pitchFamily="49" charset="0"/>
              </a:rPr>
              <a:t>החלטות שעלו לנו לדיון</a:t>
            </a:r>
          </a:p>
        </p:txBody>
      </p:sp>
    </p:spTree>
    <p:extLst>
      <p:ext uri="{BB962C8B-B14F-4D97-AF65-F5344CB8AC3E}">
        <p14:creationId xmlns:p14="http://schemas.microsoft.com/office/powerpoint/2010/main" val="29262296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1" grpId="0"/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8B390-CB6C-0A88-F2FE-3887B4E22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DD6428-6346-0013-33BD-BCF95938C18C}"/>
              </a:ext>
            </a:extLst>
          </p:cNvPr>
          <p:cNvSpPr/>
          <p:nvPr/>
        </p:nvSpPr>
        <p:spPr>
          <a:xfrm>
            <a:off x="6464646" y="1361279"/>
            <a:ext cx="4827355" cy="4135437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IL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7BB813-35E2-DD50-9567-BC83EFF846D1}"/>
              </a:ext>
            </a:extLst>
          </p:cNvPr>
          <p:cNvSpPr txBox="1"/>
          <p:nvPr/>
        </p:nvSpPr>
        <p:spPr>
          <a:xfrm>
            <a:off x="6464646" y="1485176"/>
            <a:ext cx="48273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3200" b="1" dirty="0"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Medium" panose="02000009000000000000" pitchFamily="49" charset="0"/>
              </a:rPr>
              <a:t>סגנונות תקשורת</a:t>
            </a:r>
            <a:endParaRPr lang="en-IL" sz="3200" b="1" dirty="0"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67447A-B498-BD79-0B51-B3F2F4625DB8}"/>
              </a:ext>
            </a:extLst>
          </p:cNvPr>
          <p:cNvSpPr txBox="1"/>
          <p:nvPr/>
        </p:nvSpPr>
        <p:spPr>
          <a:xfrm>
            <a:off x="6464646" y="2282424"/>
            <a:ext cx="43345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b="1" u="sng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Medium" panose="02000009000000000000" pitchFamily="49" charset="0"/>
              </a:rPr>
              <a:t>אנליטי</a:t>
            </a:r>
          </a:p>
          <a:p>
            <a:pPr algn="r" rtl="1"/>
            <a:r>
              <a:rPr lang="he-IL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Medium" panose="02000009000000000000" pitchFamily="49" charset="0"/>
              </a:rPr>
              <a:t>תקשורת מבוססת נתונים, סדר והיגיון.</a:t>
            </a:r>
            <a:endParaRPr lang="en-IL" dirty="0">
              <a:latin typeface="JetBrainsMono NF SemiBold" panose="02000009000000000000" pitchFamily="49" charset="0"/>
              <a:ea typeface="JetBrainsMono NF SemiBold" panose="02000009000000000000" pitchFamily="49" charset="0"/>
              <a:cs typeface="JetBrainsMono NF Medium" panose="02000009000000000000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9D51A3-CE0D-8BF9-BEEF-6105E9DF1FAB}"/>
              </a:ext>
            </a:extLst>
          </p:cNvPr>
          <p:cNvSpPr txBox="1"/>
          <p:nvPr/>
        </p:nvSpPr>
        <p:spPr>
          <a:xfrm>
            <a:off x="6464646" y="3268712"/>
            <a:ext cx="43345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b="1" u="sng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Medium" panose="02000009000000000000" pitchFamily="49" charset="0"/>
              </a:rPr>
              <a:t>שיתופי</a:t>
            </a:r>
          </a:p>
          <a:p>
            <a:pPr algn="r" rtl="1"/>
            <a:r>
              <a:rPr lang="he-IL" dirty="0">
                <a:latin typeface="JetBrainsMono NF Medium" panose="02000009000000000000" pitchFamily="49" charset="0"/>
                <a:ea typeface="JetBrainsMono NF Medium" panose="02000009000000000000" pitchFamily="49" charset="0"/>
                <a:cs typeface="JetBrainsMono NF Medium" panose="02000009000000000000" pitchFamily="49" charset="0"/>
              </a:rPr>
              <a:t>עידוד דיון, הקשבה וחיפוש פתרון משותף.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BD2CE0E-4736-8EDF-A009-78A997C744F4}"/>
              </a:ext>
            </a:extLst>
          </p:cNvPr>
          <p:cNvGrpSpPr>
            <a:grpSpLocks noChangeAspect="1"/>
          </p:cNvGrpSpPr>
          <p:nvPr/>
        </p:nvGrpSpPr>
        <p:grpSpPr>
          <a:xfrm>
            <a:off x="10863797" y="2282424"/>
            <a:ext cx="349704" cy="360000"/>
            <a:chOff x="11219900" y="3132690"/>
            <a:chExt cx="540000" cy="555899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15989A-4BD0-59C5-0DFF-A391A2A5242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19900" y="3132690"/>
              <a:ext cx="540000" cy="540000"/>
            </a:xfrm>
            <a:prstGeom prst="ellipse">
              <a:avLst/>
            </a:prstGeom>
            <a:solidFill>
              <a:srgbClr val="A866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l" defTabSz="914400" rtl="0" eaLnBrk="1" latinLnBrk="0" hangingPunct="1"/>
              <a:endParaRPr lang="en-IL"/>
            </a:p>
          </p:txBody>
        </p:sp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FBA38BC1-D4D1-BC12-1090-3AFF26C4351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35900" y="3180589"/>
              <a:ext cx="508000" cy="508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5897E06-67DE-90FA-4BDE-5154A4B80AE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10881127" y="3268712"/>
            <a:ext cx="353847" cy="360000"/>
            <a:chOff x="8683536" y="4143856"/>
            <a:chExt cx="540820" cy="550224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8732E985-6046-04E1-5C6B-FE7897F68D4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84356" y="4154080"/>
              <a:ext cx="540000" cy="540000"/>
            </a:xfrm>
            <a:prstGeom prst="ellipse">
              <a:avLst/>
            </a:prstGeom>
            <a:solidFill>
              <a:srgbClr val="6E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r" defTabSz="914400" rtl="1" eaLnBrk="1" latinLnBrk="0" hangingPunct="1"/>
              <a:endParaRPr lang="en-IL"/>
            </a:p>
          </p:txBody>
        </p:sp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92EC33E4-5419-11F8-E25C-AC50D633C1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83536" y="4143856"/>
              <a:ext cx="508000" cy="508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A228EB0A-A242-9772-50F8-15E14264CFB9}"/>
              </a:ext>
            </a:extLst>
          </p:cNvPr>
          <p:cNvSpPr/>
          <p:nvPr/>
        </p:nvSpPr>
        <p:spPr>
          <a:xfrm>
            <a:off x="574589" y="1361279"/>
            <a:ext cx="5152767" cy="4135437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IL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E5C202-AFBC-128E-D6B6-068BA38B0E44}"/>
              </a:ext>
            </a:extLst>
          </p:cNvPr>
          <p:cNvSpPr txBox="1"/>
          <p:nvPr/>
        </p:nvSpPr>
        <p:spPr>
          <a:xfrm>
            <a:off x="574589" y="1485176"/>
            <a:ext cx="51527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3200" b="1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SemiBold" panose="02000009000000000000" pitchFamily="49" charset="0"/>
              </a:rPr>
              <a:t>איך זה בפועל</a:t>
            </a:r>
            <a:endParaRPr lang="en-IL" sz="3200" b="1" dirty="0">
              <a:latin typeface="JetBrainsMono NF SemiBold" panose="02000009000000000000" pitchFamily="49" charset="0"/>
              <a:ea typeface="JetBrainsMono NF SemiBold" panose="02000009000000000000" pitchFamily="49" charset="0"/>
              <a:cs typeface="JetBrainsMono NF SemiBold" panose="02000009000000000000" pitchFamily="49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B944AA4-8D37-CA19-6644-5FE48F963AA8}"/>
              </a:ext>
            </a:extLst>
          </p:cNvPr>
          <p:cNvSpPr txBox="1"/>
          <p:nvPr/>
        </p:nvSpPr>
        <p:spPr>
          <a:xfrm>
            <a:off x="899463" y="2313443"/>
            <a:ext cx="426766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just" defTabSz="914400" rtl="1" eaLnBrk="1" latinLnBrk="0" hangingPunct="1"/>
            <a:r>
              <a:rPr lang="he-IL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Medium" panose="02000009000000000000" pitchFamily="49" charset="0"/>
              </a:rPr>
              <a:t>הדיון היה פתוח ומשתף ביקשנו שכל חבר צוות יגיד את הדעה השלו וההחלטות התקבלו על בסיס שקלול של כל הידע המשותף ובצורה אנליטית</a:t>
            </a:r>
            <a:endParaRPr lang="en-IL" dirty="0">
              <a:latin typeface="JetBrainsMono NF Medium" panose="02000009000000000000" pitchFamily="49" charset="0"/>
              <a:ea typeface="JetBrainsMono NF Medium" panose="02000009000000000000" pitchFamily="49" charset="0"/>
              <a:cs typeface="JetBrainsMono NF Medium" panose="02000009000000000000" pitchFamily="49" charset="0"/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51B100F-9E26-B4AB-1789-6092C6BDA94F}"/>
              </a:ext>
            </a:extLst>
          </p:cNvPr>
          <p:cNvGrpSpPr>
            <a:grpSpLocks noChangeAspect="1"/>
          </p:cNvGrpSpPr>
          <p:nvPr/>
        </p:nvGrpSpPr>
        <p:grpSpPr>
          <a:xfrm>
            <a:off x="5242050" y="2282424"/>
            <a:ext cx="349704" cy="360000"/>
            <a:chOff x="11219900" y="3132690"/>
            <a:chExt cx="540000" cy="555899"/>
          </a:xfrm>
        </p:grpSpPr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1B15E1E5-435D-26D1-80E7-556398F408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219900" y="3132690"/>
              <a:ext cx="540000" cy="540000"/>
            </a:xfrm>
            <a:prstGeom prst="ellipse">
              <a:avLst/>
            </a:prstGeom>
            <a:solidFill>
              <a:srgbClr val="A866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algn="l" defTabSz="914400" rtl="0" eaLnBrk="1" latinLnBrk="0" hangingPunct="1"/>
              <a:endParaRPr lang="en-IL"/>
            </a:p>
          </p:txBody>
        </p:sp>
        <p:pic>
          <p:nvPicPr>
            <p:cNvPr id="54" name="Picture 2">
              <a:extLst>
                <a:ext uri="{FF2B5EF4-FFF2-40B4-BE49-F238E27FC236}">
                  <a16:creationId xmlns:a16="http://schemas.microsoft.com/office/drawing/2014/main" id="{D6BB0F25-FFF7-27D5-80DC-5382B573A91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35900" y="3180589"/>
              <a:ext cx="508000" cy="508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8D4C6F2-1B0B-93A9-E0B0-FE96674AADC9}"/>
              </a:ext>
            </a:extLst>
          </p:cNvPr>
          <p:cNvGrpSpPr/>
          <p:nvPr/>
        </p:nvGrpSpPr>
        <p:grpSpPr>
          <a:xfrm>
            <a:off x="0" y="5778000"/>
            <a:ext cx="3518092" cy="1080000"/>
            <a:chOff x="0" y="5778000"/>
            <a:chExt cx="3518092" cy="1080000"/>
          </a:xfrm>
        </p:grpSpPr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4247DDA0-EDD3-468B-3AFD-2F6584A1569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5778000"/>
              <a:ext cx="1080000" cy="1080000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9EEDF5B8-CC52-448D-9510-0E58406269B0}"/>
                </a:ext>
              </a:extLst>
            </p:cNvPr>
            <p:cNvGrpSpPr/>
            <p:nvPr/>
          </p:nvGrpSpPr>
          <p:grpSpPr>
            <a:xfrm>
              <a:off x="1270326" y="6048000"/>
              <a:ext cx="2247766" cy="540000"/>
              <a:chOff x="1270326" y="6032428"/>
              <a:chExt cx="2247766" cy="54000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15B3343F-5AE6-D674-36BB-4CD2BBBD095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70326" y="6032428"/>
                <a:ext cx="540000" cy="540000"/>
              </a:xfrm>
              <a:prstGeom prst="ellipse">
                <a:avLst/>
              </a:prstGeom>
              <a:solidFill>
                <a:srgbClr val="6E00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45CC95D7-F30D-E1F8-3D2F-A921EBD37D4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97628" y="6032428"/>
                <a:ext cx="540000" cy="540000"/>
              </a:xfrm>
              <a:prstGeom prst="ellipse">
                <a:avLst/>
              </a:prstGeom>
              <a:solidFill>
                <a:srgbClr val="A866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50EE6BB-9572-3723-7AAD-505F04346C3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78092" y="6032428"/>
                <a:ext cx="540000" cy="540000"/>
              </a:xfrm>
              <a:prstGeom prst="ellipse">
                <a:avLst/>
              </a:prstGeom>
              <a:solidFill>
                <a:srgbClr val="E2CC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 dirty="0"/>
              </a:p>
            </p:txBody>
          </p:sp>
        </p:grpSp>
      </p:grp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F14575A-3CFB-F58E-477E-EB4D89B01FFC}"/>
              </a:ext>
            </a:extLst>
          </p:cNvPr>
          <p:cNvSpPr/>
          <p:nvPr/>
        </p:nvSpPr>
        <p:spPr>
          <a:xfrm>
            <a:off x="1619980" y="199089"/>
            <a:ext cx="8952036" cy="689070"/>
          </a:xfrm>
          <a:prstGeom prst="roundRect">
            <a:avLst>
              <a:gd name="adj" fmla="val 2020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 sz="3600" b="1" dirty="0">
              <a:solidFill>
                <a:srgbClr val="160033"/>
              </a:solidFill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0EC495-A1C9-39F4-94B7-41D75A60FE6C}"/>
              </a:ext>
            </a:extLst>
          </p:cNvPr>
          <p:cNvSpPr txBox="1"/>
          <p:nvPr/>
        </p:nvSpPr>
        <p:spPr>
          <a:xfrm>
            <a:off x="1381898" y="199089"/>
            <a:ext cx="914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4000" b="1" dirty="0">
                <a:solidFill>
                  <a:srgbClr val="160033"/>
                </a:solidFill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ExtraBold" panose="02000009000000000000" pitchFamily="49" charset="0"/>
              </a:rPr>
              <a:t>סגנונות תקשורת</a:t>
            </a:r>
          </a:p>
        </p:txBody>
      </p:sp>
    </p:spTree>
    <p:extLst>
      <p:ext uri="{BB962C8B-B14F-4D97-AF65-F5344CB8AC3E}">
        <p14:creationId xmlns:p14="http://schemas.microsoft.com/office/powerpoint/2010/main" val="1975295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3" grpId="0"/>
      <p:bldP spid="19" grpId="0"/>
      <p:bldP spid="22" grpId="0"/>
      <p:bldP spid="45" grpId="0" animBg="1"/>
      <p:bldP spid="14" grpId="0"/>
      <p:bldP spid="5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4D1EB-F10C-C57B-AD04-DF83D887C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AA54CB1-9DE2-1395-2B8A-B0EE20F7B186}"/>
              </a:ext>
            </a:extLst>
          </p:cNvPr>
          <p:cNvSpPr/>
          <p:nvPr/>
        </p:nvSpPr>
        <p:spPr>
          <a:xfrm>
            <a:off x="6507273" y="1030870"/>
            <a:ext cx="4320000" cy="2160000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IL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392DF3-0014-82B0-E532-B9349D2A2E1E}"/>
              </a:ext>
            </a:extLst>
          </p:cNvPr>
          <p:cNvSpPr txBox="1"/>
          <p:nvPr/>
        </p:nvSpPr>
        <p:spPr>
          <a:xfrm>
            <a:off x="6507274" y="1154767"/>
            <a:ext cx="43199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3200" b="1" dirty="0"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Medium" panose="02000009000000000000" pitchFamily="49" charset="0"/>
              </a:rPr>
              <a:t>תובנות של אסף</a:t>
            </a:r>
            <a:endParaRPr lang="en-IL" sz="3200" b="1" dirty="0"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C12335-F88D-A1F6-DF05-5F33D55E3DF4}"/>
              </a:ext>
            </a:extLst>
          </p:cNvPr>
          <p:cNvSpPr txBox="1"/>
          <p:nvPr/>
        </p:nvSpPr>
        <p:spPr>
          <a:xfrm>
            <a:off x="6507272" y="1739544"/>
            <a:ext cx="431999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SemiBold" panose="02000009000000000000" pitchFamily="49" charset="0"/>
              </a:rPr>
              <a:t>למדתי שתיאום צפיות מסודר בתחילת העבודה צוות משפר יעילות, מונע חיכוכים בין חברי הצוות ומגביר תחושת אחראיות והשתתפות</a:t>
            </a:r>
            <a:endParaRPr lang="en-IL" dirty="0">
              <a:latin typeface="JetBrainsMono NF SemiBold" panose="02000009000000000000" pitchFamily="49" charset="0"/>
              <a:ea typeface="JetBrainsMono NF SemiBold" panose="02000009000000000000" pitchFamily="49" charset="0"/>
              <a:cs typeface="JetBrainsMono NF SemiBold" panose="02000009000000000000" pitchFamily="49" charset="0"/>
            </a:endParaRP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AE2321B0-ECDA-1372-45D6-7F5F299C6450}"/>
              </a:ext>
            </a:extLst>
          </p:cNvPr>
          <p:cNvSpPr/>
          <p:nvPr/>
        </p:nvSpPr>
        <p:spPr>
          <a:xfrm>
            <a:off x="1358092" y="1030870"/>
            <a:ext cx="4320000" cy="2160000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IL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F91F14-CE37-B364-33FD-D9F483CA55DF}"/>
              </a:ext>
            </a:extLst>
          </p:cNvPr>
          <p:cNvSpPr txBox="1"/>
          <p:nvPr/>
        </p:nvSpPr>
        <p:spPr>
          <a:xfrm>
            <a:off x="1359442" y="1154767"/>
            <a:ext cx="4318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3200" b="1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SemiBold" panose="02000009000000000000" pitchFamily="49" charset="0"/>
              </a:rPr>
              <a:t>תובנות של אנדריי</a:t>
            </a:r>
            <a:endParaRPr lang="en-IL" sz="3200" b="1" dirty="0">
              <a:latin typeface="JetBrainsMono NF SemiBold" panose="02000009000000000000" pitchFamily="49" charset="0"/>
              <a:ea typeface="JetBrainsMono NF SemiBold" panose="02000009000000000000" pitchFamily="49" charset="0"/>
              <a:cs typeface="JetBrainsMono NF SemiBold" panose="02000009000000000000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D5F151B-017A-E545-33CA-F059B433B293}"/>
              </a:ext>
            </a:extLst>
          </p:cNvPr>
          <p:cNvSpPr txBox="1"/>
          <p:nvPr/>
        </p:nvSpPr>
        <p:spPr>
          <a:xfrm>
            <a:off x="1358090" y="1739542"/>
            <a:ext cx="43200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Medium" panose="02000009000000000000" pitchFamily="49" charset="0"/>
              </a:rPr>
              <a:t>למדתי שידע מקצועי אינו מספיק, ותקשורת בין אישית טובה היא מפתח לצלחת הצוות</a:t>
            </a:r>
            <a:endParaRPr lang="en-IL" dirty="0">
              <a:latin typeface="JetBrainsMono NF SemiBold" panose="02000009000000000000" pitchFamily="49" charset="0"/>
              <a:ea typeface="JetBrainsMono NF SemiBold" panose="02000009000000000000" pitchFamily="49" charset="0"/>
              <a:cs typeface="JetBrainsMono NF SemiBold" panose="02000009000000000000" pitchFamily="49" charset="0"/>
            </a:endParaRP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06ECC223-248A-A3EE-4F49-96952A75B990}"/>
              </a:ext>
            </a:extLst>
          </p:cNvPr>
          <p:cNvGrpSpPr/>
          <p:nvPr/>
        </p:nvGrpSpPr>
        <p:grpSpPr>
          <a:xfrm>
            <a:off x="0" y="5778000"/>
            <a:ext cx="3518092" cy="1080000"/>
            <a:chOff x="0" y="5778000"/>
            <a:chExt cx="3518092" cy="1080000"/>
          </a:xfrm>
        </p:grpSpPr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1F9A2097-36BE-99B8-BB0B-E9E78DECF4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5778000"/>
              <a:ext cx="1080000" cy="1080000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E486FC2-06B3-8D85-E1F3-39965749F537}"/>
                </a:ext>
              </a:extLst>
            </p:cNvPr>
            <p:cNvGrpSpPr/>
            <p:nvPr/>
          </p:nvGrpSpPr>
          <p:grpSpPr>
            <a:xfrm>
              <a:off x="1270326" y="6048000"/>
              <a:ext cx="2247766" cy="540000"/>
              <a:chOff x="1270326" y="6032428"/>
              <a:chExt cx="2247766" cy="54000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10DAF0F9-A5DA-9032-B642-1E601CC276F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70326" y="6032428"/>
                <a:ext cx="540000" cy="540000"/>
              </a:xfrm>
              <a:prstGeom prst="ellipse">
                <a:avLst/>
              </a:prstGeom>
              <a:solidFill>
                <a:srgbClr val="6E00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C5DBCCFD-91AB-85E5-3849-EC81D65349E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97628" y="6032428"/>
                <a:ext cx="540000" cy="540000"/>
              </a:xfrm>
              <a:prstGeom prst="ellipse">
                <a:avLst/>
              </a:prstGeom>
              <a:solidFill>
                <a:srgbClr val="A866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AB0CFAE4-3F4F-B246-170B-F75EB2CBF41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78092" y="6032428"/>
                <a:ext cx="540000" cy="540000"/>
              </a:xfrm>
              <a:prstGeom prst="ellipse">
                <a:avLst/>
              </a:prstGeom>
              <a:solidFill>
                <a:srgbClr val="E2CC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 dirty="0"/>
              </a:p>
            </p:txBody>
          </p:sp>
        </p:grpSp>
      </p:grp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AA4BE28-6218-F828-E366-5062E49301FB}"/>
              </a:ext>
            </a:extLst>
          </p:cNvPr>
          <p:cNvSpPr/>
          <p:nvPr/>
        </p:nvSpPr>
        <p:spPr>
          <a:xfrm>
            <a:off x="6508622" y="3277979"/>
            <a:ext cx="4320000" cy="2160000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IL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4A5A44-1FF3-BCD9-ED2C-449CF184B40D}"/>
              </a:ext>
            </a:extLst>
          </p:cNvPr>
          <p:cNvSpPr txBox="1"/>
          <p:nvPr/>
        </p:nvSpPr>
        <p:spPr>
          <a:xfrm>
            <a:off x="6508623" y="3401876"/>
            <a:ext cx="43199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3200" b="1" dirty="0"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Medium" panose="02000009000000000000" pitchFamily="49" charset="0"/>
              </a:rPr>
              <a:t>תובנות של שי</a:t>
            </a:r>
            <a:endParaRPr lang="en-IL" sz="3200" b="1" dirty="0"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8103C0-2DAE-CC68-F42F-9F27C9DEB5BF}"/>
              </a:ext>
            </a:extLst>
          </p:cNvPr>
          <p:cNvSpPr txBox="1"/>
          <p:nvPr/>
        </p:nvSpPr>
        <p:spPr>
          <a:xfrm>
            <a:off x="6508621" y="3986653"/>
            <a:ext cx="43199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SemiBold" panose="02000009000000000000" pitchFamily="49" charset="0"/>
              </a:rPr>
              <a:t>הבנתי שתקשורת ברורה ושקופה חוסכת אי הבנות ועיכובים בהמשך הדרך. </a:t>
            </a:r>
            <a:endParaRPr lang="en-IL" dirty="0">
              <a:latin typeface="JetBrainsMono NF SemiBold" panose="02000009000000000000" pitchFamily="49" charset="0"/>
              <a:ea typeface="JetBrainsMono NF SemiBold" panose="02000009000000000000" pitchFamily="49" charset="0"/>
              <a:cs typeface="JetBrainsMono NF SemiBold" panose="02000009000000000000" pitchFamily="49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A43D668-C44B-ABC2-EA20-0D81F41D389C}"/>
              </a:ext>
            </a:extLst>
          </p:cNvPr>
          <p:cNvSpPr/>
          <p:nvPr/>
        </p:nvSpPr>
        <p:spPr>
          <a:xfrm>
            <a:off x="1358094" y="3277979"/>
            <a:ext cx="4320000" cy="2160000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IL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075343-00C0-DD98-405A-758BFA147E8A}"/>
              </a:ext>
            </a:extLst>
          </p:cNvPr>
          <p:cNvSpPr txBox="1"/>
          <p:nvPr/>
        </p:nvSpPr>
        <p:spPr>
          <a:xfrm>
            <a:off x="1359444" y="3401876"/>
            <a:ext cx="4318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3200" b="1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SemiBold" panose="02000009000000000000" pitchFamily="49" charset="0"/>
              </a:rPr>
              <a:t>תובנות של אביב</a:t>
            </a:r>
            <a:endParaRPr lang="en-IL" sz="3200" b="1" dirty="0">
              <a:latin typeface="JetBrainsMono NF SemiBold" panose="02000009000000000000" pitchFamily="49" charset="0"/>
              <a:ea typeface="JetBrainsMono NF SemiBold" panose="02000009000000000000" pitchFamily="49" charset="0"/>
              <a:cs typeface="JetBrainsMono NF SemiBold" panose="02000009000000000000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FBCDD3-3435-021C-BD07-C01956B51712}"/>
              </a:ext>
            </a:extLst>
          </p:cNvPr>
          <p:cNvSpPr txBox="1"/>
          <p:nvPr/>
        </p:nvSpPr>
        <p:spPr>
          <a:xfrm>
            <a:off x="1358092" y="3986651"/>
            <a:ext cx="43200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SemiBold" panose="02000009000000000000" pitchFamily="49" charset="0"/>
              </a:rPr>
              <a:t>גיליתי שהכנה מוקדמת למפגשי צוות משפרת משמעותית את איכות הדיונים.</a:t>
            </a:r>
            <a:endParaRPr lang="en-IL" dirty="0">
              <a:latin typeface="JetBrainsMono NF SemiBold" panose="02000009000000000000" pitchFamily="49" charset="0"/>
              <a:ea typeface="JetBrainsMono NF SemiBold" panose="02000009000000000000" pitchFamily="49" charset="0"/>
              <a:cs typeface="JetBrainsMono NF SemiBold" panose="02000009000000000000" pitchFamily="49" charset="0"/>
            </a:endParaRP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AB982E0-21CA-C17D-F2FB-517949CD0EA8}"/>
              </a:ext>
            </a:extLst>
          </p:cNvPr>
          <p:cNvSpPr/>
          <p:nvPr/>
        </p:nvSpPr>
        <p:spPr>
          <a:xfrm>
            <a:off x="1619980" y="199089"/>
            <a:ext cx="8952036" cy="689070"/>
          </a:xfrm>
          <a:prstGeom prst="roundRect">
            <a:avLst>
              <a:gd name="adj" fmla="val 2020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 sz="3600" b="1" dirty="0">
              <a:solidFill>
                <a:srgbClr val="160033"/>
              </a:solidFill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B082DA-BE82-52A9-B827-4654695B1311}"/>
              </a:ext>
            </a:extLst>
          </p:cNvPr>
          <p:cNvSpPr txBox="1"/>
          <p:nvPr/>
        </p:nvSpPr>
        <p:spPr>
          <a:xfrm>
            <a:off x="1381898" y="199089"/>
            <a:ext cx="914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4000" b="1" dirty="0">
                <a:solidFill>
                  <a:srgbClr val="160033"/>
                </a:solidFill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ExtraBold" panose="02000009000000000000" pitchFamily="49" charset="0"/>
              </a:rPr>
              <a:t>תובנות</a:t>
            </a:r>
          </a:p>
        </p:txBody>
      </p:sp>
    </p:spTree>
    <p:extLst>
      <p:ext uri="{BB962C8B-B14F-4D97-AF65-F5344CB8AC3E}">
        <p14:creationId xmlns:p14="http://schemas.microsoft.com/office/powerpoint/2010/main" val="24382593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3" grpId="0"/>
      <p:bldP spid="45" grpId="0" animBg="1"/>
      <p:bldP spid="14" grpId="0"/>
      <p:bldP spid="42" grpId="0"/>
      <p:bldP spid="9" grpId="0" animBg="1"/>
      <p:bldP spid="10" grpId="0"/>
      <p:bldP spid="12" grpId="0" animBg="1"/>
      <p:bldP spid="15" grpId="0"/>
      <p:bldP spid="1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481EF-353C-B2D0-5B19-4B6E3547C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414E4902-18D1-3420-09E8-94238A832405}"/>
              </a:ext>
            </a:extLst>
          </p:cNvPr>
          <p:cNvSpPr/>
          <p:nvPr/>
        </p:nvSpPr>
        <p:spPr>
          <a:xfrm>
            <a:off x="3205418" y="547818"/>
            <a:ext cx="5680751" cy="1884365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IL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4BF62B-F3FD-4814-C784-437358D0C7B0}"/>
              </a:ext>
            </a:extLst>
          </p:cNvPr>
          <p:cNvSpPr txBox="1"/>
          <p:nvPr/>
        </p:nvSpPr>
        <p:spPr>
          <a:xfrm>
            <a:off x="3205418" y="647344"/>
            <a:ext cx="56807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3200" b="1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SemiBold" panose="02000009000000000000" pitchFamily="49" charset="0"/>
              </a:rPr>
              <a:t>תובנות של הצוות</a:t>
            </a:r>
            <a:endParaRPr lang="en-IL" sz="3200" b="1" dirty="0">
              <a:latin typeface="JetBrainsMono NF SemiBold" panose="02000009000000000000" pitchFamily="49" charset="0"/>
              <a:ea typeface="JetBrainsMono NF SemiBold" panose="02000009000000000000" pitchFamily="49" charset="0"/>
              <a:cs typeface="JetBrainsMono NF SemiBold" panose="02000009000000000000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FEF21B-D4B3-1C5B-623D-69D0E82ADBD1}"/>
              </a:ext>
            </a:extLst>
          </p:cNvPr>
          <p:cNvSpPr txBox="1"/>
          <p:nvPr/>
        </p:nvSpPr>
        <p:spPr>
          <a:xfrm>
            <a:off x="3205417" y="1331645"/>
            <a:ext cx="56807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SemiBold" panose="02000009000000000000" pitchFamily="49" charset="0"/>
              </a:rPr>
              <a:t>גילינו שעבודה עם סגנונות תקשורת שונים יכולה להיות יתרון, כל עוד יש הקשבה וכבוד הדדי.</a:t>
            </a:r>
            <a:endParaRPr lang="en-IL" dirty="0">
              <a:latin typeface="JetBrainsMono NF SemiBold" panose="02000009000000000000" pitchFamily="49" charset="0"/>
              <a:ea typeface="JetBrainsMono NF SemiBold" panose="02000009000000000000" pitchFamily="49" charset="0"/>
              <a:cs typeface="JetBrainsMono NF SemiBold" panose="02000009000000000000" pitchFamily="49" charset="0"/>
            </a:endParaRP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FB50684-0FB8-F173-D4BA-73A2A277F9CB}"/>
              </a:ext>
            </a:extLst>
          </p:cNvPr>
          <p:cNvGrpSpPr/>
          <p:nvPr/>
        </p:nvGrpSpPr>
        <p:grpSpPr>
          <a:xfrm>
            <a:off x="0" y="5778000"/>
            <a:ext cx="3518092" cy="1080000"/>
            <a:chOff x="0" y="5778000"/>
            <a:chExt cx="3518092" cy="1080000"/>
          </a:xfrm>
        </p:grpSpPr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219A07EC-BF14-BBF4-AC94-405867F473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5778000"/>
              <a:ext cx="1080000" cy="1080000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D62632B5-4CE5-FF32-6AAD-616FEA82D6E2}"/>
                </a:ext>
              </a:extLst>
            </p:cNvPr>
            <p:cNvGrpSpPr/>
            <p:nvPr/>
          </p:nvGrpSpPr>
          <p:grpSpPr>
            <a:xfrm>
              <a:off x="1270326" y="6048000"/>
              <a:ext cx="2247766" cy="540000"/>
              <a:chOff x="1270326" y="6032428"/>
              <a:chExt cx="2247766" cy="54000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470EFDAB-D2A5-E936-4178-7F6169A784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70326" y="6032428"/>
                <a:ext cx="540000" cy="540000"/>
              </a:xfrm>
              <a:prstGeom prst="ellipse">
                <a:avLst/>
              </a:prstGeom>
              <a:solidFill>
                <a:srgbClr val="6E00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9F870A66-5354-7ECD-C471-C8D49D5209B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97628" y="6032428"/>
                <a:ext cx="540000" cy="540000"/>
              </a:xfrm>
              <a:prstGeom prst="ellipse">
                <a:avLst/>
              </a:prstGeom>
              <a:solidFill>
                <a:srgbClr val="A866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C94F79C0-754E-1377-A0C8-C249328BF39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78092" y="6032428"/>
                <a:ext cx="540000" cy="540000"/>
              </a:xfrm>
              <a:prstGeom prst="ellipse">
                <a:avLst/>
              </a:prstGeom>
              <a:solidFill>
                <a:srgbClr val="E2CC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 dirty="0"/>
              </a:p>
            </p:txBody>
          </p:sp>
        </p:grpSp>
      </p:grp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9A90635-BEF8-D692-86EE-2A7D326301D4}"/>
              </a:ext>
            </a:extLst>
          </p:cNvPr>
          <p:cNvSpPr/>
          <p:nvPr/>
        </p:nvSpPr>
        <p:spPr>
          <a:xfrm>
            <a:off x="3205417" y="2690749"/>
            <a:ext cx="5680751" cy="3180043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3079FA-655C-D80A-0734-497225A9332E}"/>
              </a:ext>
            </a:extLst>
          </p:cNvPr>
          <p:cNvSpPr txBox="1"/>
          <p:nvPr/>
        </p:nvSpPr>
        <p:spPr>
          <a:xfrm>
            <a:off x="3205417" y="2790275"/>
            <a:ext cx="56807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3200" b="1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SemiBold" panose="02000009000000000000" pitchFamily="49" charset="0"/>
              </a:rPr>
              <a:t>מסקנות</a:t>
            </a:r>
            <a:endParaRPr lang="en-IL" sz="3200" b="1" dirty="0">
              <a:latin typeface="JetBrainsMono NF SemiBold" panose="02000009000000000000" pitchFamily="49" charset="0"/>
              <a:ea typeface="JetBrainsMono NF SemiBold" panose="02000009000000000000" pitchFamily="49" charset="0"/>
              <a:cs typeface="JetBrainsMono NF SemiBold" panose="02000009000000000000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1D2017-C8D3-9776-19B4-C9C7964DD287}"/>
              </a:ext>
            </a:extLst>
          </p:cNvPr>
          <p:cNvSpPr txBox="1"/>
          <p:nvPr/>
        </p:nvSpPr>
        <p:spPr>
          <a:xfrm>
            <a:off x="3205416" y="3474576"/>
            <a:ext cx="56807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SemiBold" panose="02000009000000000000" pitchFamily="49" charset="0"/>
              </a:rPr>
              <a:t>תיאום ציפיות ושיח פתוח לאורך הפרויקט אפשרו עבודה מקצועית ומכבדת, צמצמו קונפליקטים וחיזקו את שיתוף הפעולה בצוות.</a:t>
            </a:r>
            <a:endParaRPr lang="en-IL" dirty="0">
              <a:latin typeface="JetBrainsMono NF SemiBold" panose="02000009000000000000" pitchFamily="49" charset="0"/>
              <a:ea typeface="JetBrainsMono NF SemiBold" panose="02000009000000000000" pitchFamily="49" charset="0"/>
              <a:cs typeface="JetBrainsMono NF SemiBold" panose="02000009000000000000" pitchFamily="49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E4C7C67-53C7-802E-A3DB-507D0420C3ED}"/>
              </a:ext>
            </a:extLst>
          </p:cNvPr>
          <p:cNvCxnSpPr>
            <a:cxnSpLocks/>
          </p:cNvCxnSpPr>
          <p:nvPr/>
        </p:nvCxnSpPr>
        <p:spPr>
          <a:xfrm>
            <a:off x="3322206" y="4498910"/>
            <a:ext cx="5447172" cy="0"/>
          </a:xfrm>
          <a:prstGeom prst="line">
            <a:avLst/>
          </a:prstGeom>
          <a:ln>
            <a:solidFill>
              <a:srgbClr val="1600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637BD05-4FF1-FA0A-ABB8-BE53D2E5EB2A}"/>
              </a:ext>
            </a:extLst>
          </p:cNvPr>
          <p:cNvSpPr txBox="1"/>
          <p:nvPr/>
        </p:nvSpPr>
        <p:spPr>
          <a:xfrm>
            <a:off x="3205415" y="4672684"/>
            <a:ext cx="56807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 fontAlgn="base"/>
            <a:r>
              <a:rPr lang="he-IL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SemiBold" panose="02000009000000000000" pitchFamily="49" charset="0"/>
              </a:rPr>
              <a:t>שילוב של תכנון משותף בקבלת החלטות עם חלוקת עבודה מסודרת ובקרה שוטפת תרם ליעילות הצוות ולהשגת תוצר איכותי.</a:t>
            </a:r>
          </a:p>
        </p:txBody>
      </p:sp>
    </p:spTree>
    <p:extLst>
      <p:ext uri="{BB962C8B-B14F-4D97-AF65-F5344CB8AC3E}">
        <p14:creationId xmlns:p14="http://schemas.microsoft.com/office/powerpoint/2010/main" val="17759110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14" grpId="0"/>
      <p:bldP spid="42" grpId="0"/>
      <p:bldP spid="2" grpId="0" animBg="1"/>
      <p:bldP spid="3" grpId="0"/>
      <p:bldP spid="4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C6A41-F926-693E-BAD1-350CD07FA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roup 57">
            <a:extLst>
              <a:ext uri="{FF2B5EF4-FFF2-40B4-BE49-F238E27FC236}">
                <a16:creationId xmlns:a16="http://schemas.microsoft.com/office/drawing/2014/main" id="{B318C162-D390-00B1-96A0-3BBFA069EFE2}"/>
              </a:ext>
            </a:extLst>
          </p:cNvPr>
          <p:cNvGrpSpPr/>
          <p:nvPr/>
        </p:nvGrpSpPr>
        <p:grpSpPr>
          <a:xfrm>
            <a:off x="0" y="5778000"/>
            <a:ext cx="3518092" cy="1080000"/>
            <a:chOff x="0" y="5778000"/>
            <a:chExt cx="3518092" cy="1080000"/>
          </a:xfrm>
        </p:grpSpPr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87FC13D0-1AB9-3DE8-143F-B7B6B5FB8F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5778000"/>
              <a:ext cx="1080000" cy="1080000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6BD4A1EE-B535-9366-9A94-DB74ED143390}"/>
                </a:ext>
              </a:extLst>
            </p:cNvPr>
            <p:cNvGrpSpPr/>
            <p:nvPr/>
          </p:nvGrpSpPr>
          <p:grpSpPr>
            <a:xfrm>
              <a:off x="1270326" y="6048000"/>
              <a:ext cx="2247766" cy="540000"/>
              <a:chOff x="1270326" y="6032428"/>
              <a:chExt cx="2247766" cy="54000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297BF4C3-4476-136B-04FB-53D55420A63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70326" y="6032428"/>
                <a:ext cx="540000" cy="540000"/>
              </a:xfrm>
              <a:prstGeom prst="ellipse">
                <a:avLst/>
              </a:prstGeom>
              <a:solidFill>
                <a:srgbClr val="6E00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7C98A945-0B06-0772-A79C-17A9526390A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97628" y="6032428"/>
                <a:ext cx="540000" cy="540000"/>
              </a:xfrm>
              <a:prstGeom prst="ellipse">
                <a:avLst/>
              </a:prstGeom>
              <a:solidFill>
                <a:srgbClr val="A866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0A48BABB-9604-A45F-E0DD-A7382E802C8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78092" y="6032428"/>
                <a:ext cx="540000" cy="540000"/>
              </a:xfrm>
              <a:prstGeom prst="ellipse">
                <a:avLst/>
              </a:prstGeom>
              <a:solidFill>
                <a:srgbClr val="E2CC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 dirty="0"/>
              </a:p>
            </p:txBody>
          </p:sp>
        </p:grp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F6A234E1-FDED-FF9F-FD30-18BCC62403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9089" y="1305761"/>
            <a:ext cx="1588539" cy="1566778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4B1D5218-E143-A902-5D53-D488E9841E4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92640" y="3674291"/>
            <a:ext cx="1876491" cy="18764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721844D-811A-6E98-3622-C022B9B2BF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20030" y="1382243"/>
            <a:ext cx="1643567" cy="1643567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881F33C0-92A0-1789-91ED-33B85B0F43F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420030" y="3674291"/>
            <a:ext cx="1876491" cy="1883441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FC1B83F3-FAC2-6632-6FB3-5B9E5D1AAA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0140" y="2872539"/>
            <a:ext cx="4171719" cy="801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34737A9-DB90-4623-3601-C71AC19D2C86}"/>
              </a:ext>
            </a:extLst>
          </p:cNvPr>
          <p:cNvSpPr/>
          <p:nvPr/>
        </p:nvSpPr>
        <p:spPr>
          <a:xfrm>
            <a:off x="1619980" y="199089"/>
            <a:ext cx="8952036" cy="689070"/>
          </a:xfrm>
          <a:prstGeom prst="roundRect">
            <a:avLst>
              <a:gd name="adj" fmla="val 2020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 sz="3600" b="1" dirty="0">
              <a:solidFill>
                <a:srgbClr val="160033"/>
              </a:solidFill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5A2630-AE5B-BD39-9201-C0FFF1C5EA71}"/>
              </a:ext>
            </a:extLst>
          </p:cNvPr>
          <p:cNvSpPr txBox="1"/>
          <p:nvPr/>
        </p:nvSpPr>
        <p:spPr>
          <a:xfrm>
            <a:off x="1381898" y="199089"/>
            <a:ext cx="914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4000" b="1" dirty="0">
                <a:solidFill>
                  <a:srgbClr val="160033"/>
                </a:solidFill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ExtraBold" panose="02000009000000000000" pitchFamily="49" charset="0"/>
              </a:rPr>
              <a:t>כלים לעבודה </a:t>
            </a:r>
          </a:p>
        </p:txBody>
      </p:sp>
    </p:spTree>
    <p:extLst>
      <p:ext uri="{BB962C8B-B14F-4D97-AF65-F5344CB8AC3E}">
        <p14:creationId xmlns:p14="http://schemas.microsoft.com/office/powerpoint/2010/main" val="2705274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2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E519D-6CD2-DD20-BDF5-EF82D7070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6CDCDFE4-FF5E-6B46-51DC-579CC1196B99}"/>
              </a:ext>
            </a:extLst>
          </p:cNvPr>
          <p:cNvSpPr/>
          <p:nvPr/>
        </p:nvSpPr>
        <p:spPr>
          <a:xfrm>
            <a:off x="2712098" y="2436922"/>
            <a:ext cx="6767804" cy="1984156"/>
          </a:xfrm>
          <a:prstGeom prst="roundRect">
            <a:avLst>
              <a:gd name="adj" fmla="val 406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r" defTabSz="914400" rtl="1" eaLnBrk="1" latinLnBrk="0" hangingPunct="1"/>
            <a:endParaRPr lang="en-IL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8759EB-491C-53A4-AAD4-38672B1FF9F8}"/>
              </a:ext>
            </a:extLst>
          </p:cNvPr>
          <p:cNvSpPr txBox="1"/>
          <p:nvPr/>
        </p:nvSpPr>
        <p:spPr>
          <a:xfrm>
            <a:off x="2712096" y="2890365"/>
            <a:ext cx="67678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sz="2400" dirty="0">
                <a:latin typeface="JetBrainsMono NF SemiBold" panose="02000009000000000000" pitchFamily="49" charset="0"/>
                <a:ea typeface="JetBrainsMono NF SemiBold" panose="02000009000000000000" pitchFamily="49" charset="0"/>
                <a:cs typeface="JetBrainsMono NF SemiBold" panose="02000009000000000000" pitchFamily="49" charset="0"/>
              </a:rPr>
              <a:t>הצלחת צוות מתחילה באנשים ולא במשימות כשיש אמון ותקשורת טובה, גם הפרויקט מצליח.</a:t>
            </a:r>
            <a:endParaRPr lang="en-IL" sz="2400" dirty="0">
              <a:latin typeface="JetBrainsMono NF SemiBold" panose="02000009000000000000" pitchFamily="49" charset="0"/>
              <a:ea typeface="JetBrainsMono NF SemiBold" panose="02000009000000000000" pitchFamily="49" charset="0"/>
              <a:cs typeface="JetBrainsMono NF SemiBold" panose="02000009000000000000" pitchFamily="49" charset="0"/>
            </a:endParaRP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97799FB-406C-17CD-CD02-D0A56E4D6BF2}"/>
              </a:ext>
            </a:extLst>
          </p:cNvPr>
          <p:cNvGrpSpPr/>
          <p:nvPr/>
        </p:nvGrpSpPr>
        <p:grpSpPr>
          <a:xfrm>
            <a:off x="0" y="5778000"/>
            <a:ext cx="3518092" cy="1080000"/>
            <a:chOff x="0" y="5778000"/>
            <a:chExt cx="3518092" cy="1080000"/>
          </a:xfrm>
        </p:grpSpPr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E7B21944-CE0D-3E91-1830-E64C279BEC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5778000"/>
              <a:ext cx="1080000" cy="1080000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D8F83815-CE93-0213-3E53-A91994C9BC7E}"/>
                </a:ext>
              </a:extLst>
            </p:cNvPr>
            <p:cNvGrpSpPr/>
            <p:nvPr/>
          </p:nvGrpSpPr>
          <p:grpSpPr>
            <a:xfrm>
              <a:off x="1270326" y="6048000"/>
              <a:ext cx="2247766" cy="540000"/>
              <a:chOff x="1270326" y="6032428"/>
              <a:chExt cx="2247766" cy="54000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532ABBD2-A165-96AA-AE25-EA7EEDC09DB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270326" y="6032428"/>
                <a:ext cx="540000" cy="540000"/>
              </a:xfrm>
              <a:prstGeom prst="ellipse">
                <a:avLst/>
              </a:prstGeom>
              <a:solidFill>
                <a:srgbClr val="6E00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372026C4-776C-4AF5-C817-64A63A6094D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097628" y="6032428"/>
                <a:ext cx="540000" cy="540000"/>
              </a:xfrm>
              <a:prstGeom prst="ellipse">
                <a:avLst/>
              </a:prstGeom>
              <a:solidFill>
                <a:srgbClr val="A866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9FF72F2C-4D9E-910E-2626-D009FFFB489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78092" y="6032428"/>
                <a:ext cx="540000" cy="540000"/>
              </a:xfrm>
              <a:prstGeom prst="ellipse">
                <a:avLst/>
              </a:prstGeom>
              <a:solidFill>
                <a:srgbClr val="E2CC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 dirty="0"/>
              </a:p>
            </p:txBody>
          </p:sp>
        </p:grpSp>
      </p:grp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8FCE9E9-B2E5-D4BB-258A-BF819A3D49CE}"/>
              </a:ext>
            </a:extLst>
          </p:cNvPr>
          <p:cNvSpPr/>
          <p:nvPr/>
        </p:nvSpPr>
        <p:spPr>
          <a:xfrm>
            <a:off x="1619980" y="199089"/>
            <a:ext cx="8952036" cy="689070"/>
          </a:xfrm>
          <a:prstGeom prst="roundRect">
            <a:avLst>
              <a:gd name="adj" fmla="val 20208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90500" dist="25400" dir="5400000" algn="ctr" rotWithShape="0">
              <a:schemeClr val="tx1">
                <a:lumMod val="50000"/>
                <a:lumOff val="50000"/>
                <a:alpha val="30000"/>
              </a:schemeClr>
            </a:outerShdw>
            <a:softEdge rad="0"/>
          </a:effectLst>
          <a:scene3d>
            <a:camera prst="orthographicFront"/>
            <a:lightRig rig="threePt" dir="t"/>
          </a:scene3d>
          <a:sp3d prstMaterial="matte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1" eaLnBrk="1" latinLnBrk="0" hangingPunct="1"/>
            <a:endParaRPr lang="en-IL" sz="3600" b="1" dirty="0">
              <a:solidFill>
                <a:srgbClr val="160033"/>
              </a:solidFill>
              <a:latin typeface="JetBrainsMono NF ExtraBold" panose="02000009000000000000" pitchFamily="49" charset="0"/>
              <a:ea typeface="JetBrainsMono NF ExtraBold" panose="02000009000000000000" pitchFamily="49" charset="0"/>
              <a:cs typeface="JetBrainsMono NF ExtraBold" panose="02000009000000000000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14A4B5-C37E-3F4A-E42B-87D23F88F7A6}"/>
              </a:ext>
            </a:extLst>
          </p:cNvPr>
          <p:cNvSpPr txBox="1"/>
          <p:nvPr/>
        </p:nvSpPr>
        <p:spPr>
          <a:xfrm>
            <a:off x="1381898" y="199089"/>
            <a:ext cx="9144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ctr" defTabSz="914400" rtl="1" eaLnBrk="1" latinLnBrk="0" hangingPunct="1"/>
            <a:r>
              <a:rPr lang="he-IL" sz="4000" b="1" dirty="0">
                <a:solidFill>
                  <a:srgbClr val="160033"/>
                </a:solidFill>
                <a:latin typeface="JetBrainsMono NF ExtraBold" panose="02000009000000000000" pitchFamily="49" charset="0"/>
                <a:ea typeface="JetBrainsMono NF ExtraBold" panose="02000009000000000000" pitchFamily="49" charset="0"/>
                <a:cs typeface="JetBrainsMono NF ExtraBold" panose="02000009000000000000" pitchFamily="49" charset="0"/>
              </a:rPr>
              <a:t>טיפ לסמסטר הבא</a:t>
            </a:r>
          </a:p>
        </p:txBody>
      </p:sp>
    </p:spTree>
    <p:extLst>
      <p:ext uri="{BB962C8B-B14F-4D97-AF65-F5344CB8AC3E}">
        <p14:creationId xmlns:p14="http://schemas.microsoft.com/office/powerpoint/2010/main" val="889296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4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1173</TotalTime>
  <Words>524</Words>
  <Application>Microsoft Macintosh PowerPoint</Application>
  <PresentationFormat>Widescreen</PresentationFormat>
  <Paragraphs>77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Aptos Display</vt:lpstr>
      <vt:lpstr>Arial</vt:lpstr>
      <vt:lpstr>JetBrainsMono NF ExtraBold</vt:lpstr>
      <vt:lpstr>JetBrainsMono NF Medium</vt:lpstr>
      <vt:lpstr>JetBrainsMono NF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אנדריי בלוזיורוב</dc:creator>
  <cp:lastModifiedBy>אנדריי בלוזיורוב</cp:lastModifiedBy>
  <cp:revision>13</cp:revision>
  <dcterms:created xsi:type="dcterms:W3CDTF">2026-01-08T16:45:11Z</dcterms:created>
  <dcterms:modified xsi:type="dcterms:W3CDTF">2026-01-13T10:50:51Z</dcterms:modified>
</cp:coreProperties>
</file>