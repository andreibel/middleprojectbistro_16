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0" r:id="rId4"/>
    <p:sldId id="258" r:id="rId5"/>
    <p:sldId id="261" r:id="rId6"/>
    <p:sldId id="257" r:id="rId7"/>
    <p:sldId id="259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033"/>
    <a:srgbClr val="0F0024"/>
    <a:srgbClr val="DDC7FA"/>
    <a:srgbClr val="420099"/>
    <a:srgbClr val="E2CCFF"/>
    <a:srgbClr val="A866FF"/>
    <a:srgbClr val="6E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8"/>
    <p:restoredTop sz="94668"/>
  </p:normalViewPr>
  <p:slideViewPr>
    <p:cSldViewPr snapToGrid="0">
      <p:cViewPr varScale="1">
        <p:scale>
          <a:sx n="206" d="100"/>
          <a:sy n="206" d="100"/>
        </p:scale>
        <p:origin x="5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30A9-868B-D463-E823-895540C4A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BFE5F-4FDB-22F7-515C-F071207C3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059B-E90A-098A-166C-E754B47C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B630B-2D94-0EEC-2178-7707BFF7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E00A-D1A4-3A1A-99F7-DC4D9547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619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C906-ADA0-7C39-C2E7-5E6C2693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D6DD-99ED-DD51-2B6B-86DC06F52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3E1D-C1B0-3017-FCFA-C19F9E5E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FD103-EFC2-1859-22BF-62A73F46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7B3DF-6F4B-6F1A-1F05-D352C20B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384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D2EE-B07A-720E-4A9F-B084A116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95AA8-0609-569A-9246-6D24B9D24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649E9-2315-5EAD-8DA2-8F9EC37D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D068D-038B-C771-DAF4-E4F77225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1714D-9FEA-D208-035B-67E4A7AB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814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EFA2-B089-4861-3683-D7501CA8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179C-C9BC-E1E7-DE99-CF791BFAF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2A02A-EA62-8A98-CF52-B81FD0906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8B995-2B9D-6234-805D-B7AC098E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1E0A6-C74C-51AF-6999-258C2CA9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F9B97-729C-20B7-208C-F6CDB48C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430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0971-F14D-79F6-8CEB-912F974A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568E5-ED63-6EE9-F14E-452A2FDF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A7464-EA9A-CB28-C960-DA726CD83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728CB-EF96-0DDE-AA88-50CE98970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7DECB-E54C-3F1D-306D-5AFB237F6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A97D-FF3F-3AA3-2365-8E9F75A9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3FD71-36BF-3462-A6CB-07FE4162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B53DF-D1E5-E41A-02B0-02871B7E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233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DCA7-1DA2-71AB-B273-19925BC4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69842-E0D5-6732-C973-45E5F712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C8744-8C50-2A1C-5B51-1B2E6CDD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CBC36-166A-DBFF-DC2A-336A215F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603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2DD2E-BF2C-95FE-58BB-C7FD6423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CADAE-2A06-A18B-55D4-D15C40C2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69446-4AFC-BFD7-5314-E524EC97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285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A0D1-0A90-F84B-436E-F590E4252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D8CB8-673A-B0BE-5ABF-A11C1BF14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D499D-AAB7-8913-8E45-5C8CE9465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D332-8478-DF93-B82B-7D0EAA6B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C5F9A-6500-FD2F-92E9-B61E17A8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E6B4C-ED54-29C2-0292-3699C8B1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936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7EC3-0D11-F0E0-0174-2744AF49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9D847-35B9-2E7F-14A3-156F22BFF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C3730-FCC2-8C08-3F74-64745843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4A99-2890-5494-AFAB-398623F6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0B821-733B-53A2-E6A0-00D77EE5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7CE96-4F25-979A-40C1-5FE4C780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532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1B62-5B0C-7C04-152A-FCA4A160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4C0A4-6850-98A9-D4B7-32A6108A0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29728-64D4-605D-BE3A-DE55AEDA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9D746-62CF-C901-6001-338A828B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EA62-4603-8EBA-E14F-DEB343C2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319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E40E5-C28F-7A27-F908-9EF41D999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EF1AE-CEB8-F91D-F1B6-D75367C97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58D8-EB3E-029F-78A8-F0E0D81C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0189A-9AC4-E024-698E-E933AFE1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11251-1271-7C27-29D4-ADA05321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604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5A3F4-5C2E-527B-C825-843AF0B5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02767-B1C8-1032-08EE-1CEAB925F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8A325-4409-F88E-1BC7-6C05D580A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8D66E-5DB5-4D41-BE4D-4DF884971939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9DE8-55C3-A108-8F77-DBB5CFC20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F58C-EECB-D073-6E21-E0E480CA8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7A8C6-53F9-6640-AB38-FF32ABEFD7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862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58158A9-78CB-9F1B-CC13-0F0E5ECF55A4}"/>
              </a:ext>
            </a:extLst>
          </p:cNvPr>
          <p:cNvSpPr/>
          <p:nvPr/>
        </p:nvSpPr>
        <p:spPr>
          <a:xfrm>
            <a:off x="2714800" y="1140615"/>
            <a:ext cx="6762397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>
              <a:solidFill>
                <a:srgbClr val="160033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3A12FC-30E5-A3D8-2F53-C48A843F4D79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F95310-FE21-2E4D-C724-0BD786D2D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D8A0DC5-2221-7CF5-1B59-FD4CBCC67187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2342E71-2EA4-C6AF-BF6E-D6BDF88E3D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160033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D1DAED6-D28F-59C9-1D50-682AB8ECAB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160033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85138A1-56EE-4467-3A94-18BA8413FA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solidFill>
                    <a:srgbClr val="160033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42F5B7F-66EA-1E17-EEDC-797C5707BCE8}"/>
              </a:ext>
            </a:extLst>
          </p:cNvPr>
          <p:cNvSpPr txBox="1"/>
          <p:nvPr/>
        </p:nvSpPr>
        <p:spPr>
          <a:xfrm>
            <a:off x="1523999" y="1287904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8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עבודת צוות</a:t>
            </a:r>
            <a:endParaRPr lang="en-IL" sz="80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AADD7E-B533-64A7-E534-73FB7C8372E7}"/>
              </a:ext>
            </a:extLst>
          </p:cNvPr>
          <p:cNvGrpSpPr/>
          <p:nvPr/>
        </p:nvGrpSpPr>
        <p:grpSpPr>
          <a:xfrm>
            <a:off x="8591993" y="3493783"/>
            <a:ext cx="395176" cy="1434477"/>
            <a:chOff x="5880691" y="3697655"/>
            <a:chExt cx="395176" cy="143447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574E0CF5-D83C-4DE9-CD53-D4122B136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7779" y="4414730"/>
              <a:ext cx="38100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10E7DF83-DE89-2033-1EA3-42C6BC53A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0691" y="4751132"/>
              <a:ext cx="38100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>
              <a:extLst>
                <a:ext uri="{FF2B5EF4-FFF2-40B4-BE49-F238E27FC236}">
                  <a16:creationId xmlns:a16="http://schemas.microsoft.com/office/drawing/2014/main" id="{934F207F-2F1B-4A5C-F0E5-1FEAF84BA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4867" y="3697655"/>
              <a:ext cx="38100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8">
              <a:extLst>
                <a:ext uri="{FF2B5EF4-FFF2-40B4-BE49-F238E27FC236}">
                  <a16:creationId xmlns:a16="http://schemas.microsoft.com/office/drawing/2014/main" id="{519BF012-D271-61B4-AC9E-D03F797E5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7779" y="4034057"/>
              <a:ext cx="38100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0BDE6B0-DF86-2B59-EBBB-86E3B290A1A0}"/>
              </a:ext>
            </a:extLst>
          </p:cNvPr>
          <p:cNvSpPr txBox="1"/>
          <p:nvPr/>
        </p:nvSpPr>
        <p:spPr>
          <a:xfrm>
            <a:off x="1524001" y="2192671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6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" panose="02000009000000000000" pitchFamily="49" charset="0"/>
              </a:rPr>
              <a:t>פרויקט ביסטרו</a:t>
            </a:r>
            <a:endParaRPr lang="en-IL" sz="60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BE8DC9-CBE2-737A-F57D-C5C7E8A6E980}"/>
              </a:ext>
            </a:extLst>
          </p:cNvPr>
          <p:cNvSpPr txBox="1"/>
          <p:nvPr/>
        </p:nvSpPr>
        <p:spPr>
          <a:xfrm>
            <a:off x="4890977" y="3446142"/>
            <a:ext cx="3810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SemiBold" panose="02000009000000000000" pitchFamily="49" charset="0"/>
              </a:rPr>
              <a:t>אליהו אסף</a:t>
            </a:r>
            <a:br>
              <a:rPr lang="en-US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</a:b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SemiBold" panose="02000009000000000000" pitchFamily="49" charset="0"/>
              </a:rPr>
              <a:t>בלוזיורוב אנדריי</a:t>
            </a:r>
            <a:br>
              <a:rPr lang="en-US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</a:b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SemiBold" panose="02000009000000000000" pitchFamily="49" charset="0"/>
              </a:rPr>
              <a:t>גונן שי</a:t>
            </a:r>
            <a:br>
              <a:rPr lang="en-US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</a:b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SemiBold" panose="02000009000000000000" pitchFamily="49" charset="0"/>
              </a:rPr>
              <a:t>פאר אביב</a:t>
            </a:r>
            <a:endParaRPr lang="en-IL" sz="2400" dirty="0">
              <a:solidFill>
                <a:srgbClr val="160033"/>
              </a:solidFill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547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202B-CE37-E674-F80D-7E853532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90ECE00-2706-84B2-F149-D8B87ABB935E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67B383-3785-D933-92B6-B8670A4FA6F9}"/>
              </a:ext>
            </a:extLst>
          </p:cNvPr>
          <p:cNvSpPr/>
          <p:nvPr/>
        </p:nvSpPr>
        <p:spPr>
          <a:xfrm>
            <a:off x="2714800" y="1140615"/>
            <a:ext cx="6762397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>
              <a:solidFill>
                <a:srgbClr val="160033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86F772-1F8B-6537-E441-3708032C574C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7B6DA8-875B-85AE-D1D2-93D9CDFFA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C4BC24-9DCB-E4DE-2679-24E4244A60DD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FA8D1F-A274-10A5-F436-264FE16868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160033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0DA2C24-2922-FEFA-4D87-34DFFCFC08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160033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F725375-F327-E2FE-C32B-5B9845C5E7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solidFill>
                    <a:srgbClr val="160033"/>
                  </a:solidFill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E42653-BDEF-A45E-7639-4EFAAFF803FB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נושאי המצגת </a:t>
            </a:r>
            <a:endParaRPr lang="en-IL" sz="40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0F169-FAC8-28D9-50D3-BF68E3CC2796}"/>
              </a:ext>
            </a:extLst>
          </p:cNvPr>
          <p:cNvSpPr txBox="1"/>
          <p:nvPr/>
        </p:nvSpPr>
        <p:spPr>
          <a:xfrm>
            <a:off x="3539886" y="1534124"/>
            <a:ext cx="5112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נדבר על תהליך העבודה שלנו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הסיכונים שהתממשו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איך התקבלו ההחלטות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איזה סגנונות תקשורת היו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מסקנות ותובנות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כלים שעזרו לנו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160033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וטיפ עבור הסמסטר הבא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IL" sz="2400" dirty="0">
              <a:solidFill>
                <a:srgbClr val="160033"/>
              </a:solidFill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9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D9FA-0B2B-4CA2-9BCB-42D993EC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253A6AB-0E00-A9B4-8BA9-8FF5B2497DBB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735EB3-74AD-AB12-FDBC-E89C5C246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0D2CAE9-F013-0793-6A35-81DE2FE5C9C7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D3420F6-AC23-D814-53BA-D14366E179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99FA523-5309-3D07-B202-240A2EBFD2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7C82D13-3A19-028C-AF61-8C5DDAD62E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F98C633-DA17-B17B-13E4-66E02630D32B}"/>
              </a:ext>
            </a:extLst>
          </p:cNvPr>
          <p:cNvSpPr/>
          <p:nvPr/>
        </p:nvSpPr>
        <p:spPr>
          <a:xfrm>
            <a:off x="6962228" y="1269000"/>
            <a:ext cx="4320000" cy="432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EE4E6-BD2E-68AA-832F-5551FFAE1839}"/>
              </a:ext>
            </a:extLst>
          </p:cNvPr>
          <p:cNvSpPr txBox="1"/>
          <p:nvPr/>
        </p:nvSpPr>
        <p:spPr>
          <a:xfrm>
            <a:off x="6962228" y="1410446"/>
            <a:ext cx="431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תחילת פרויקט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DE8B2E-8D11-C32B-EDAE-79E2B6C113AA}"/>
              </a:ext>
            </a:extLst>
          </p:cNvPr>
          <p:cNvSpPr txBox="1"/>
          <p:nvPr/>
        </p:nvSpPr>
        <p:spPr>
          <a:xfrm>
            <a:off x="6970223" y="2124226"/>
            <a:ext cx="4333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יצרנו תיאום צפיות בין חברי הצוות.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087E4A-11E4-43FC-E969-EC9A59296F38}"/>
              </a:ext>
            </a:extLst>
          </p:cNvPr>
          <p:cNvCxnSpPr>
            <a:cxnSpLocks/>
          </p:cNvCxnSpPr>
          <p:nvPr/>
        </p:nvCxnSpPr>
        <p:spPr>
          <a:xfrm>
            <a:off x="7165910" y="2848028"/>
            <a:ext cx="3912637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2FEAD43-B60E-F21D-62A9-109682AAC8B8}"/>
              </a:ext>
            </a:extLst>
          </p:cNvPr>
          <p:cNvSpPr txBox="1"/>
          <p:nvPr/>
        </p:nvSpPr>
        <p:spPr>
          <a:xfrm>
            <a:off x="6951562" y="2925500"/>
            <a:ext cx="433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יצור אמון מקצועי ואישי.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9CD006-2556-5BA8-AED9-B9F80FEA6CBA}"/>
              </a:ext>
            </a:extLst>
          </p:cNvPr>
          <p:cNvCxnSpPr>
            <a:cxnSpLocks/>
          </p:cNvCxnSpPr>
          <p:nvPr/>
        </p:nvCxnSpPr>
        <p:spPr>
          <a:xfrm>
            <a:off x="7154804" y="3376372"/>
            <a:ext cx="3912637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3BBD0AE-5F35-C649-03E1-8D6E4451B790}"/>
              </a:ext>
            </a:extLst>
          </p:cNvPr>
          <p:cNvSpPr txBox="1"/>
          <p:nvPr/>
        </p:nvSpPr>
        <p:spPr>
          <a:xfrm>
            <a:off x="6940456" y="3453844"/>
            <a:ext cx="4333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שיתוף פעולה מכבד כדי למנוע קונפליקטים מיותרים.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DF8C30-F3D1-81E4-4868-79DA04CAD773}"/>
              </a:ext>
            </a:extLst>
          </p:cNvPr>
          <p:cNvCxnSpPr>
            <a:cxnSpLocks/>
          </p:cNvCxnSpPr>
          <p:nvPr/>
        </p:nvCxnSpPr>
        <p:spPr>
          <a:xfrm>
            <a:off x="7165910" y="4225111"/>
            <a:ext cx="3912637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F7716F4-2CFE-6261-550A-4612C113823D}"/>
              </a:ext>
            </a:extLst>
          </p:cNvPr>
          <p:cNvSpPr txBox="1"/>
          <p:nvPr/>
        </p:nvSpPr>
        <p:spPr>
          <a:xfrm>
            <a:off x="6951562" y="4302583"/>
            <a:ext cx="433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קבענו ימים ושעות קבועות לעבדה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40537F6D-4DD4-13A5-4417-E80C55F8F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402" y="197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B962944-FF99-172E-97FF-986162B5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28" y="353474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0255B76F-FA29-A4E6-D43C-824230E9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34" y="10500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79288C-21CB-25D6-9712-1D9C79DB6BCE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83B36-9756-9CB6-B142-CD2D22FF3CC7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תהליך עבודה</a:t>
            </a:r>
          </a:p>
        </p:txBody>
      </p:sp>
    </p:spTree>
    <p:extLst>
      <p:ext uri="{BB962C8B-B14F-4D97-AF65-F5344CB8AC3E}">
        <p14:creationId xmlns:p14="http://schemas.microsoft.com/office/powerpoint/2010/main" val="2889478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/>
      <p:bldP spid="32" grpId="0"/>
      <p:bldP spid="34" grpId="0"/>
      <p:bldP spid="36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ECDC5C0-C1D5-2E16-B7D5-817AF6528557}"/>
              </a:ext>
            </a:extLst>
          </p:cNvPr>
          <p:cNvSpPr/>
          <p:nvPr/>
        </p:nvSpPr>
        <p:spPr>
          <a:xfrm>
            <a:off x="888000" y="1269000"/>
            <a:ext cx="4320000" cy="432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9FC9CED-CF86-8F8E-DBE2-6A681C6E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00" y="12690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87CB64A-651C-8B75-02B5-BA70C8E81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00" y="48690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DE7E141D-3DE5-C2E1-4FA7-10BDD46D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00" y="48690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6D636AE2-C394-7F12-9365-8A054C2C4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00" y="12690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riangle 16">
            <a:extLst>
              <a:ext uri="{FF2B5EF4-FFF2-40B4-BE49-F238E27FC236}">
                <a16:creationId xmlns:a16="http://schemas.microsoft.com/office/drawing/2014/main" id="{3F4D8B31-C134-EA8B-680F-1F5D1CE0FA49}"/>
              </a:ext>
            </a:extLst>
          </p:cNvPr>
          <p:cNvSpPr/>
          <p:nvPr/>
        </p:nvSpPr>
        <p:spPr>
          <a:xfrm rot="18900000" flipH="1">
            <a:off x="1125717" y="1706740"/>
            <a:ext cx="1897244" cy="1497198"/>
          </a:xfrm>
          <a:prstGeom prst="triangle">
            <a:avLst/>
          </a:prstGeom>
          <a:gradFill>
            <a:gsLst>
              <a:gs pos="0">
                <a:schemeClr val="bg1">
                  <a:lumMod val="50000"/>
                  <a:alpha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49BE20F-4B99-4953-25E7-75BC188654B1}"/>
              </a:ext>
            </a:extLst>
          </p:cNvPr>
          <p:cNvSpPr>
            <a:spLocks noChangeAspect="1"/>
          </p:cNvSpPr>
          <p:nvPr/>
        </p:nvSpPr>
        <p:spPr>
          <a:xfrm>
            <a:off x="3047999" y="2455339"/>
            <a:ext cx="973661" cy="973661"/>
          </a:xfrm>
          <a:prstGeom prst="rtTriangle">
            <a:avLst/>
          </a:prstGeom>
          <a:solidFill>
            <a:srgbClr val="A8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695BCB81-6C40-C83F-B011-635FE188575A}"/>
              </a:ext>
            </a:extLst>
          </p:cNvPr>
          <p:cNvSpPr>
            <a:spLocks noChangeAspect="1"/>
          </p:cNvSpPr>
          <p:nvPr/>
        </p:nvSpPr>
        <p:spPr>
          <a:xfrm rot="5400000">
            <a:off x="3047999" y="3429000"/>
            <a:ext cx="973661" cy="973661"/>
          </a:xfrm>
          <a:prstGeom prst="rtTriangle">
            <a:avLst/>
          </a:prstGeom>
          <a:solidFill>
            <a:srgbClr val="E2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75F5848-F603-F710-7B1A-10EDD7FA8F92}"/>
              </a:ext>
            </a:extLst>
          </p:cNvPr>
          <p:cNvSpPr>
            <a:spLocks noChangeAspect="1"/>
          </p:cNvSpPr>
          <p:nvPr/>
        </p:nvSpPr>
        <p:spPr>
          <a:xfrm flipH="1">
            <a:off x="2074339" y="2455339"/>
            <a:ext cx="973661" cy="973661"/>
          </a:xfrm>
          <a:prstGeom prst="rtTriangle">
            <a:avLst/>
          </a:prstGeom>
          <a:solidFill>
            <a:srgbClr val="6E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B7447562-51EF-D47B-7D2D-F188F9CD8A7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074339" y="3429000"/>
            <a:ext cx="973661" cy="973661"/>
          </a:xfrm>
          <a:prstGeom prst="rtTriangle">
            <a:avLst/>
          </a:prstGeom>
          <a:solidFill>
            <a:srgbClr val="42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75C07E26-80F2-61D0-7B4E-4E066F6A8CDB}"/>
              </a:ext>
            </a:extLst>
          </p:cNvPr>
          <p:cNvSpPr/>
          <p:nvPr/>
        </p:nvSpPr>
        <p:spPr>
          <a:xfrm rot="2700000" flipH="1">
            <a:off x="3073040" y="1720517"/>
            <a:ext cx="1897244" cy="1497198"/>
          </a:xfrm>
          <a:prstGeom prst="triangle">
            <a:avLst/>
          </a:prstGeom>
          <a:gradFill>
            <a:gsLst>
              <a:gs pos="0">
                <a:schemeClr val="bg1">
                  <a:lumMod val="50000"/>
                  <a:alpha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64A99526-9FCF-D4A9-D0FB-AC70C5DC6BA5}"/>
              </a:ext>
            </a:extLst>
          </p:cNvPr>
          <p:cNvSpPr/>
          <p:nvPr/>
        </p:nvSpPr>
        <p:spPr>
          <a:xfrm rot="2700000" flipH="1" flipV="1">
            <a:off x="1139495" y="3740084"/>
            <a:ext cx="1897244" cy="1497198"/>
          </a:xfrm>
          <a:prstGeom prst="triangle">
            <a:avLst/>
          </a:prstGeom>
          <a:gradFill>
            <a:gsLst>
              <a:gs pos="0">
                <a:schemeClr val="bg1">
                  <a:lumMod val="50000"/>
                  <a:alpha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6D1DC70E-7008-7E64-4A8A-55E693577A37}"/>
              </a:ext>
            </a:extLst>
          </p:cNvPr>
          <p:cNvSpPr/>
          <p:nvPr/>
        </p:nvSpPr>
        <p:spPr>
          <a:xfrm rot="18900000" flipH="1" flipV="1">
            <a:off x="3073040" y="3726307"/>
            <a:ext cx="1897244" cy="1497198"/>
          </a:xfrm>
          <a:prstGeom prst="triangle">
            <a:avLst/>
          </a:prstGeom>
          <a:gradFill>
            <a:gsLst>
              <a:gs pos="0">
                <a:schemeClr val="bg1">
                  <a:lumMod val="50000"/>
                  <a:alpha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B4EFD6B-B72B-AE27-59DB-CD1085D08A16}"/>
              </a:ext>
            </a:extLst>
          </p:cNvPr>
          <p:cNvSpPr/>
          <p:nvPr/>
        </p:nvSpPr>
        <p:spPr>
          <a:xfrm>
            <a:off x="6984000" y="1268999"/>
            <a:ext cx="4320000" cy="432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728635-98E5-211A-2E23-247BDCF86C74}"/>
              </a:ext>
            </a:extLst>
          </p:cNvPr>
          <p:cNvSpPr txBox="1"/>
          <p:nvPr/>
        </p:nvSpPr>
        <p:spPr>
          <a:xfrm>
            <a:off x="6991730" y="1404225"/>
            <a:ext cx="431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עיצוב ואפיון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1DC202-A333-0759-83C8-78173B103E5E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EE2C402-5BA9-1989-54CB-BFB4622A3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55B79F3-B8D4-0CBB-BBFF-FFF96F7C3045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07D334F-0D4B-D290-1201-2CE834EBE9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CEEBE17-F2B7-CF93-CABB-F50D07301B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A3A657E-FC43-9BA6-DFB0-607F268AD6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C96A8B3-77B8-557C-996D-95252A3F90A4}"/>
              </a:ext>
            </a:extLst>
          </p:cNvPr>
          <p:cNvSpPr txBox="1"/>
          <p:nvPr/>
        </p:nvSpPr>
        <p:spPr>
          <a:xfrm>
            <a:off x="6970223" y="2124226"/>
            <a:ext cx="4333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את חלק של עיצוב האפיון עשינו כולם ביחד. בלי חלוקה של משימות לכל חבר צוות. 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EA28EC-46B4-4C8F-173A-017D4CAFD476}"/>
              </a:ext>
            </a:extLst>
          </p:cNvPr>
          <p:cNvSpPr txBox="1"/>
          <p:nvPr/>
        </p:nvSpPr>
        <p:spPr>
          <a:xfrm>
            <a:off x="6977111" y="3394947"/>
            <a:ext cx="4333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כל אחד מביא את נקודת מבטו, כדי לקבל את התוצאה הטובה ביותר עבור הפרויקט.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1B7B592-12BD-66F1-34CD-E1861FFC2DF5}"/>
              </a:ext>
            </a:extLst>
          </p:cNvPr>
          <p:cNvCxnSpPr>
            <a:cxnSpLocks/>
          </p:cNvCxnSpPr>
          <p:nvPr/>
        </p:nvCxnSpPr>
        <p:spPr>
          <a:xfrm>
            <a:off x="7187682" y="3221252"/>
            <a:ext cx="3912637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AEF451-6F95-ADB4-ED4D-C7C825E630DE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CA564-8622-5135-19B9-41A1CEF52CB2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תהליך עבודה</a:t>
            </a:r>
          </a:p>
        </p:txBody>
      </p:sp>
    </p:spTree>
    <p:extLst>
      <p:ext uri="{BB962C8B-B14F-4D97-AF65-F5344CB8AC3E}">
        <p14:creationId xmlns:p14="http://schemas.microsoft.com/office/powerpoint/2010/main" val="1030031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4" grpId="0" animBg="1"/>
      <p:bldP spid="5" grpId="0" animBg="1"/>
      <p:bldP spid="9" grpId="0" animBg="1"/>
      <p:bldP spid="10" grpId="0" animBg="1"/>
      <p:bldP spid="19" grpId="0" animBg="1"/>
      <p:bldP spid="21" grpId="0" animBg="1"/>
      <p:bldP spid="22" grpId="0" animBg="1"/>
      <p:bldP spid="23" grpId="0" animBg="1"/>
      <p:bldP spid="24" grpId="0"/>
      <p:bldP spid="35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FD09-DB52-0F0E-42E0-A57E7BAE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CAA83F6-F0D4-D8CB-7B64-D4084E32598B}"/>
              </a:ext>
            </a:extLst>
          </p:cNvPr>
          <p:cNvSpPr/>
          <p:nvPr/>
        </p:nvSpPr>
        <p:spPr>
          <a:xfrm>
            <a:off x="4646645" y="1268999"/>
            <a:ext cx="6657355" cy="432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302419-A76F-02FB-F549-772B27C8138F}"/>
              </a:ext>
            </a:extLst>
          </p:cNvPr>
          <p:cNvSpPr txBox="1"/>
          <p:nvPr/>
        </p:nvSpPr>
        <p:spPr>
          <a:xfrm>
            <a:off x="4646644" y="1404225"/>
            <a:ext cx="6657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שלב היישום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8B3986-9489-BE98-4E15-089668C7AF43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00175B4-623A-7867-97C1-B3B122A2A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1BAF22D-CFB9-1A31-EE33-4AE7CB7E92B1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E90B036-E3BB-9659-1D58-86AC9010D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8FF05CE-6683-D28C-964A-2EB870AE46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27279AB-2108-E1C1-2377-854B2F4207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A976F23-1B69-12B4-7AE6-B2BD3B6A24A1}"/>
              </a:ext>
            </a:extLst>
          </p:cNvPr>
          <p:cNvSpPr txBox="1"/>
          <p:nvPr/>
        </p:nvSpPr>
        <p:spPr>
          <a:xfrm>
            <a:off x="4646645" y="2124226"/>
            <a:ext cx="665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חלוקה ל-2 צוותים, צוות </a:t>
            </a:r>
            <a:r>
              <a:rPr lang="en-US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frontend</a:t>
            </a:r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 וצוות </a:t>
            </a:r>
            <a:r>
              <a:rPr lang="en-US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backend</a:t>
            </a:r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.</a:t>
            </a:r>
            <a:br>
              <a:rPr lang="en-US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</a:br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לכל צוות יש נציג שמדבר עם עם הצוות השני.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2F6DFE-DBF9-9FE1-2A40-A99C9EAD88D0}"/>
              </a:ext>
            </a:extLst>
          </p:cNvPr>
          <p:cNvCxnSpPr>
            <a:cxnSpLocks/>
          </p:cNvCxnSpPr>
          <p:nvPr/>
        </p:nvCxnSpPr>
        <p:spPr>
          <a:xfrm>
            <a:off x="4869783" y="2856723"/>
            <a:ext cx="6211078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771235-30F8-DAD0-1B15-9AC45932F4F3}"/>
              </a:ext>
            </a:extLst>
          </p:cNvPr>
          <p:cNvSpPr txBox="1"/>
          <p:nvPr/>
        </p:nvSpPr>
        <p:spPr>
          <a:xfrm>
            <a:off x="4646644" y="2942890"/>
            <a:ext cx="665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כל תחילת מפגש בדקנו את משימות שבוצעו במפגש הקודם. בדקנו שהם עובדים כמו שצריך,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730409-E04E-FF68-D949-B7C43C9E102E}"/>
              </a:ext>
            </a:extLst>
          </p:cNvPr>
          <p:cNvCxnSpPr>
            <a:cxnSpLocks/>
          </p:cNvCxnSpPr>
          <p:nvPr/>
        </p:nvCxnSpPr>
        <p:spPr>
          <a:xfrm>
            <a:off x="4869783" y="3675387"/>
            <a:ext cx="6211078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48E1E0-1D40-DACD-6A7D-79A27F540705}"/>
              </a:ext>
            </a:extLst>
          </p:cNvPr>
          <p:cNvSpPr txBox="1"/>
          <p:nvPr/>
        </p:nvSpPr>
        <p:spPr>
          <a:xfrm>
            <a:off x="4646644" y="3761554"/>
            <a:ext cx="665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קבענו משימות שצריך לבצע עד המפגש הבא, איך אנחנו רואים את המימוש להם וקובעים איך הם יעבדו. 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33F19C8-7B3A-D32D-2CE7-0159CC60F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628" y="826712"/>
            <a:ext cx="1967167" cy="1967167"/>
          </a:xfrm>
          <a:prstGeom prst="rect">
            <a:avLst/>
          </a:prstGeom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E110E220-2EDA-CF3A-5879-84EB9D55F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701" y="212422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FD1B6404-3451-A27A-3C01-BABC05A64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63" y="367538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D2EAA1-9E9C-5D8C-6244-E91A73FEB78C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A8967-C5AF-EBC1-5E12-5F1F07DD7B24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תהליך עבודה</a:t>
            </a:r>
          </a:p>
        </p:txBody>
      </p:sp>
    </p:spTree>
    <p:extLst>
      <p:ext uri="{BB962C8B-B14F-4D97-AF65-F5344CB8AC3E}">
        <p14:creationId xmlns:p14="http://schemas.microsoft.com/office/powerpoint/2010/main" val="33425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35" grpId="0"/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90D131-F3B8-CF45-DE3F-392ACB80721B}"/>
              </a:ext>
            </a:extLst>
          </p:cNvPr>
          <p:cNvSpPr/>
          <p:nvPr/>
        </p:nvSpPr>
        <p:spPr>
          <a:xfrm>
            <a:off x="6972001" y="1361279"/>
            <a:ext cx="4320000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F96AE-1489-2760-0385-C6DD546FAC23}"/>
              </a:ext>
            </a:extLst>
          </p:cNvPr>
          <p:cNvSpPr txBox="1"/>
          <p:nvPr/>
        </p:nvSpPr>
        <p:spPr>
          <a:xfrm>
            <a:off x="6972002" y="1485176"/>
            <a:ext cx="431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Medium" panose="02000009000000000000" pitchFamily="49" charset="0"/>
              </a:rPr>
              <a:t>זמני עבודה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E8D58-143B-4CA9-69A5-9C2D6048380C}"/>
              </a:ext>
            </a:extLst>
          </p:cNvPr>
          <p:cNvSpPr txBox="1"/>
          <p:nvPr/>
        </p:nvSpPr>
        <p:spPr>
          <a:xfrm>
            <a:off x="6972000" y="2069953"/>
            <a:ext cx="431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בתחילת הפרויקט קבענו שעות וימים קבועים</a:t>
            </a:r>
            <a:endParaRPr lang="en-IL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4EDF2-A6C3-793D-E6AD-7D671AE1A69A}"/>
              </a:ext>
            </a:extLst>
          </p:cNvPr>
          <p:cNvSpPr txBox="1"/>
          <p:nvPr/>
        </p:nvSpPr>
        <p:spPr>
          <a:xfrm>
            <a:off x="6972000" y="3147058"/>
            <a:ext cx="382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רצוי</a:t>
            </a:r>
          </a:p>
          <a:p>
            <a:pPr algn="r" rtl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היה רוצי לעובד לפי השעות שנקבו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F67621-A2C1-FE18-2A66-393057336837}"/>
              </a:ext>
            </a:extLst>
          </p:cNvPr>
          <p:cNvSpPr txBox="1"/>
          <p:nvPr/>
        </p:nvSpPr>
        <p:spPr>
          <a:xfrm>
            <a:off x="6972000" y="4133346"/>
            <a:ext cx="382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מצוי</a:t>
            </a:r>
          </a:p>
          <a:p>
            <a:pPr algn="r" rtl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היו הרבה מפגשים שלא קרו או שלא כולם היו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010199-6652-D693-620E-C70F9365A090}"/>
              </a:ext>
            </a:extLst>
          </p:cNvPr>
          <p:cNvGrpSpPr>
            <a:grpSpLocks noChangeAspect="1"/>
          </p:cNvGrpSpPr>
          <p:nvPr/>
        </p:nvGrpSpPr>
        <p:grpSpPr>
          <a:xfrm>
            <a:off x="10863797" y="3147058"/>
            <a:ext cx="349704" cy="360000"/>
            <a:chOff x="11219900" y="3132690"/>
            <a:chExt cx="540000" cy="55589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CA4990-AAE1-2B5E-3DF7-0AB599EAC8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19900" y="3132690"/>
              <a:ext cx="540000" cy="540000"/>
            </a:xfrm>
            <a:prstGeom prst="ellipse">
              <a:avLst/>
            </a:prstGeom>
            <a:solidFill>
              <a:srgbClr val="A8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93D5CA5-CA3C-5178-1312-B3F67A285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5900" y="3180589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451CDA-A26F-19A9-71BB-8569353E857B}"/>
              </a:ext>
            </a:extLst>
          </p:cNvPr>
          <p:cNvGrpSpPr>
            <a:grpSpLocks noChangeAspect="1"/>
          </p:cNvGrpSpPr>
          <p:nvPr/>
        </p:nvGrpSpPr>
        <p:grpSpPr>
          <a:xfrm>
            <a:off x="10881127" y="4133346"/>
            <a:ext cx="353847" cy="360000"/>
            <a:chOff x="8683536" y="4143856"/>
            <a:chExt cx="540820" cy="55022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9E14C6F-8BDA-8AC4-6154-5E9BDD212E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4356" y="4154080"/>
              <a:ext cx="540000" cy="540000"/>
            </a:xfrm>
            <a:prstGeom prst="ellipse">
              <a:avLst/>
            </a:prstGeom>
            <a:solidFill>
              <a:srgbClr val="6E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635C2954-D3DD-2BCC-B3CE-9910A2D74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3536" y="4143856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18E33C9-66DF-FBB0-D68D-73AB9EEC5A07}"/>
              </a:ext>
            </a:extLst>
          </p:cNvPr>
          <p:cNvSpPr/>
          <p:nvPr/>
        </p:nvSpPr>
        <p:spPr>
          <a:xfrm>
            <a:off x="900000" y="1361279"/>
            <a:ext cx="4320000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AC1F5-162F-E677-8E9F-C52DBF9A4EFD}"/>
              </a:ext>
            </a:extLst>
          </p:cNvPr>
          <p:cNvSpPr txBox="1"/>
          <p:nvPr/>
        </p:nvSpPr>
        <p:spPr>
          <a:xfrm>
            <a:off x="901350" y="1485176"/>
            <a:ext cx="431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פערי ידע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DB5FDF-B1C9-1D9D-ED42-73CAB191ED50}"/>
              </a:ext>
            </a:extLst>
          </p:cNvPr>
          <p:cNvSpPr txBox="1"/>
          <p:nvPr/>
        </p:nvSpPr>
        <p:spPr>
          <a:xfrm>
            <a:off x="899998" y="2069951"/>
            <a:ext cx="4320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בתחילת הפרויקט קבענו לדווח אם יש לנו פערי ידע</a:t>
            </a:r>
            <a:endParaRPr lang="en-IL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B090E7-6097-FC55-7932-55E536358583}"/>
              </a:ext>
            </a:extLst>
          </p:cNvPr>
          <p:cNvSpPr txBox="1"/>
          <p:nvPr/>
        </p:nvSpPr>
        <p:spPr>
          <a:xfrm>
            <a:off x="899146" y="3147058"/>
            <a:ext cx="382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רצוי</a:t>
            </a:r>
          </a:p>
          <a:p>
            <a:pPr algn="r" rtl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שמי היה נחוץ בעזרה היה מבקש אותה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196B91-693A-9D37-5F45-8200A8338B09}"/>
              </a:ext>
            </a:extLst>
          </p:cNvPr>
          <p:cNvSpPr txBox="1"/>
          <p:nvPr/>
        </p:nvSpPr>
        <p:spPr>
          <a:xfrm>
            <a:off x="899146" y="4133346"/>
            <a:ext cx="3827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מצוי</a:t>
            </a:r>
          </a:p>
          <a:p>
            <a:pPr algn="r" rtl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התגלה שיש לאחד חברי הצוות פער ידע אחרי שהתחלנו לעבוד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D9428E8-6A19-2E51-435E-BF68F9423E6D}"/>
              </a:ext>
            </a:extLst>
          </p:cNvPr>
          <p:cNvGrpSpPr>
            <a:grpSpLocks noChangeAspect="1"/>
          </p:cNvGrpSpPr>
          <p:nvPr/>
        </p:nvGrpSpPr>
        <p:grpSpPr>
          <a:xfrm>
            <a:off x="4790943" y="3147058"/>
            <a:ext cx="349704" cy="360000"/>
            <a:chOff x="11219900" y="3132690"/>
            <a:chExt cx="540000" cy="555899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9ABF0D-034E-5C38-933C-8221E50661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19900" y="3132690"/>
              <a:ext cx="540000" cy="540000"/>
            </a:xfrm>
            <a:prstGeom prst="ellipse">
              <a:avLst/>
            </a:prstGeom>
            <a:solidFill>
              <a:srgbClr val="A8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pic>
          <p:nvPicPr>
            <p:cNvPr id="54" name="Picture 2">
              <a:extLst>
                <a:ext uri="{FF2B5EF4-FFF2-40B4-BE49-F238E27FC236}">
                  <a16:creationId xmlns:a16="http://schemas.microsoft.com/office/drawing/2014/main" id="{494EEA65-D0D6-44C7-CB8F-26C5643D95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5900" y="3180589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069AEE-D426-7B28-6823-2A33FB7974C7}"/>
              </a:ext>
            </a:extLst>
          </p:cNvPr>
          <p:cNvGrpSpPr>
            <a:grpSpLocks noChangeAspect="1"/>
          </p:cNvGrpSpPr>
          <p:nvPr/>
        </p:nvGrpSpPr>
        <p:grpSpPr>
          <a:xfrm>
            <a:off x="4808273" y="4133346"/>
            <a:ext cx="353847" cy="360000"/>
            <a:chOff x="8683536" y="4143856"/>
            <a:chExt cx="540820" cy="550224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02FB09E-E3D4-807E-73BA-2FB503A7D2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4356" y="4154080"/>
              <a:ext cx="540000" cy="540000"/>
            </a:xfrm>
            <a:prstGeom prst="ellipse">
              <a:avLst/>
            </a:prstGeom>
            <a:solidFill>
              <a:srgbClr val="6E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pic>
          <p:nvPicPr>
            <p:cNvPr id="57" name="Picture 4">
              <a:extLst>
                <a:ext uri="{FF2B5EF4-FFF2-40B4-BE49-F238E27FC236}">
                  <a16:creationId xmlns:a16="http://schemas.microsoft.com/office/drawing/2014/main" id="{B1A32BBA-8007-FBF0-AAD3-400335B07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3536" y="4143856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476D44D-5143-8B77-7581-407B93037AC0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387CC0C-A69C-84F2-8D48-72350773D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92815C1-1FE1-724C-BC6D-FA3BC5C511D1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384CAC5-4EFC-E26A-F133-B692A66B7A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B2E674A-2F96-E2A6-B7BD-08B9C2E81D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CE6B2E1-E9FB-FBAC-1C05-6BD529B036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AF92FD-48AD-15FA-5E33-BD9F043D38BE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C74E7-8331-C168-C756-E9E9B78ECB7D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סיכונים שקרו</a:t>
            </a:r>
          </a:p>
        </p:txBody>
      </p:sp>
    </p:spTree>
    <p:extLst>
      <p:ext uri="{BB962C8B-B14F-4D97-AF65-F5344CB8AC3E}">
        <p14:creationId xmlns:p14="http://schemas.microsoft.com/office/powerpoint/2010/main" val="2159241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9" grpId="0"/>
      <p:bldP spid="22" grpId="0"/>
      <p:bldP spid="45" grpId="0" animBg="1"/>
      <p:bldP spid="14" grpId="0"/>
      <p:bldP spid="42" grpId="0"/>
      <p:bldP spid="50" grpId="0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68DD22D-B6B7-33E8-F708-24AD11DD50E2}"/>
              </a:ext>
            </a:extLst>
          </p:cNvPr>
          <p:cNvSpPr/>
          <p:nvPr/>
        </p:nvSpPr>
        <p:spPr>
          <a:xfrm>
            <a:off x="6984000" y="1268999"/>
            <a:ext cx="4320000" cy="2394821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>
              <a:solidFill>
                <a:srgbClr val="0F002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A70FBB-DD8A-2F25-4F7E-F338E6ADB852}"/>
              </a:ext>
            </a:extLst>
          </p:cNvPr>
          <p:cNvSpPr/>
          <p:nvPr/>
        </p:nvSpPr>
        <p:spPr>
          <a:xfrm>
            <a:off x="888000" y="1268999"/>
            <a:ext cx="4320000" cy="2394821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endParaRPr lang="en-IL" dirty="0">
              <a:solidFill>
                <a:srgbClr val="0F0024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1870E3-766C-C420-E6C4-06A26D9AE04A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36D2094-7EE0-340C-F190-31AB2BCB1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6222A9-6EF9-5904-361A-331D4D4505EE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1B392D6-93B3-4881-BC97-AAE875B646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0F0024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4129FED-C47C-B451-42D1-1931F2B48B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>
                  <a:solidFill>
                    <a:srgbClr val="0F0024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E267FAF-A0AC-FECC-F68D-D908ABCB2B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solidFill>
                    <a:srgbClr val="0F0024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2E74080-1B03-05B6-8FB3-659A3A982286}"/>
              </a:ext>
            </a:extLst>
          </p:cNvPr>
          <p:cNvSpPr txBox="1"/>
          <p:nvPr/>
        </p:nvSpPr>
        <p:spPr>
          <a:xfrm>
            <a:off x="6991730" y="1404225"/>
            <a:ext cx="431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solidFill>
                  <a:srgbClr val="0F0024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לקוח מזדמן ב-</a:t>
            </a:r>
            <a:r>
              <a:rPr lang="en-US" sz="3200" b="1" dirty="0">
                <a:solidFill>
                  <a:srgbClr val="0F0024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DB</a:t>
            </a:r>
            <a:endParaRPr lang="en-IL" sz="3200" b="1" dirty="0">
              <a:solidFill>
                <a:srgbClr val="0F0024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779120-999E-C41D-2FF4-9B250ED5AF20}"/>
              </a:ext>
            </a:extLst>
          </p:cNvPr>
          <p:cNvSpPr txBox="1"/>
          <p:nvPr/>
        </p:nvSpPr>
        <p:spPr>
          <a:xfrm>
            <a:off x="888000" y="1404224"/>
            <a:ext cx="431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solidFill>
                  <a:srgbClr val="0F0024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אין לו זכות קיום</a:t>
            </a:r>
            <a:endParaRPr lang="en-IL" sz="3200" b="1" dirty="0">
              <a:solidFill>
                <a:srgbClr val="0F0024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9F718-ED87-4E59-2161-1F9A3B669B24}"/>
              </a:ext>
            </a:extLst>
          </p:cNvPr>
          <p:cNvSpPr txBox="1"/>
          <p:nvPr/>
        </p:nvSpPr>
        <p:spPr>
          <a:xfrm>
            <a:off x="6970223" y="2124226"/>
            <a:ext cx="4333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solidFill>
                  <a:srgbClr val="0F0024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לפי הסיפור יש ישות של לקוח מזדמן.</a:t>
            </a:r>
          </a:p>
          <a:p>
            <a:pPr marL="0" algn="r" defTabSz="914400" rtl="1" eaLnBrk="1" latinLnBrk="0" hangingPunct="1"/>
            <a:r>
              <a:rPr lang="he-IL" dirty="0">
                <a:solidFill>
                  <a:srgbClr val="0F0024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כלומר אנחנו צרכים לשמור אותה במסד נתונים ולעבוד איתה בפרויקט.</a:t>
            </a:r>
          </a:p>
          <a:p>
            <a:pPr marL="0" algn="r" defTabSz="914400" rtl="1" eaLnBrk="1" latinLnBrk="0" hangingPunct="1"/>
            <a:endParaRPr lang="en-IL" dirty="0">
              <a:solidFill>
                <a:srgbClr val="0F0024"/>
              </a:solidFill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E95A3-DB95-E688-946F-726685730A31}"/>
              </a:ext>
            </a:extLst>
          </p:cNvPr>
          <p:cNvSpPr txBox="1"/>
          <p:nvPr/>
        </p:nvSpPr>
        <p:spPr>
          <a:xfrm>
            <a:off x="866493" y="2124224"/>
            <a:ext cx="4333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solidFill>
                  <a:srgbClr val="0F0024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לקוח מזדמן אין לו זכות קיום בלי ההזמנה שלו ולכן אין צורך לשמור אותו בנפרד מההזמנה ולכן אין צרוך שנשמור אותו במסד נתונים</a:t>
            </a:r>
          </a:p>
          <a:p>
            <a:pPr marL="0" algn="r" defTabSz="914400" rtl="1" eaLnBrk="1" latinLnBrk="0" hangingPunct="1"/>
            <a:endParaRPr lang="en-IL" dirty="0">
              <a:solidFill>
                <a:srgbClr val="0F0024"/>
              </a:solidFill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2EEB0-EC21-5F5A-36E1-10168B73E584}"/>
              </a:ext>
            </a:extLst>
          </p:cNvPr>
          <p:cNvSpPr txBox="1"/>
          <p:nvPr/>
        </p:nvSpPr>
        <p:spPr>
          <a:xfrm>
            <a:off x="5588489" y="2004744"/>
            <a:ext cx="1015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IL" sz="5400" b="1" dirty="0">
                <a:solidFill>
                  <a:srgbClr val="0F0024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VS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925D9C-6BF1-1B23-F9C0-463562C2E9EA}"/>
              </a:ext>
            </a:extLst>
          </p:cNvPr>
          <p:cNvSpPr/>
          <p:nvPr/>
        </p:nvSpPr>
        <p:spPr>
          <a:xfrm>
            <a:off x="3495767" y="3893082"/>
            <a:ext cx="5200464" cy="1884918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>
              <a:solidFill>
                <a:srgbClr val="0F002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78C08-6AAE-3BA7-B49E-5A6BF4302612}"/>
              </a:ext>
            </a:extLst>
          </p:cNvPr>
          <p:cNvSpPr txBox="1"/>
          <p:nvPr/>
        </p:nvSpPr>
        <p:spPr>
          <a:xfrm>
            <a:off x="3495767" y="4107814"/>
            <a:ext cx="5200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solidFill>
                  <a:srgbClr val="0F0024"/>
                </a:solidFill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בהתחלה החלטנו לממש את 2 הרעיונות בנפרד וביקשנו חוות דעת של מרצה. התשובה הייתה שללקוח מזדמן אין זכות קיום במסד נתונים ועל כך החלטנו לא לשמור אותו שם </a:t>
            </a:r>
            <a:endParaRPr lang="en-IL" dirty="0">
              <a:solidFill>
                <a:srgbClr val="0F0024"/>
              </a:solidFill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B2F822-6F63-C3A9-6F00-A7889C6DC442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5CB27-A489-E622-FFFC-D4076C71D219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החלטות שעלו לנו לדיון</a:t>
            </a:r>
          </a:p>
        </p:txBody>
      </p:sp>
    </p:spTree>
    <p:extLst>
      <p:ext uri="{BB962C8B-B14F-4D97-AF65-F5344CB8AC3E}">
        <p14:creationId xmlns:p14="http://schemas.microsoft.com/office/powerpoint/2010/main" val="126447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1" grpId="0"/>
      <p:bldP spid="12" grpId="0"/>
      <p:bldP spid="14" grpId="0"/>
      <p:bldP spid="15" grpId="0"/>
      <p:bldP spid="16" grpId="0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F85B-E37B-CE68-D5DF-1229575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2085720-E34C-0C0C-233B-6E525AD66D6B}"/>
              </a:ext>
            </a:extLst>
          </p:cNvPr>
          <p:cNvSpPr/>
          <p:nvPr/>
        </p:nvSpPr>
        <p:spPr>
          <a:xfrm>
            <a:off x="7151951" y="2401222"/>
            <a:ext cx="4320000" cy="2055556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9EC5E3-543D-01B0-C367-BDC888E258DF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ACFA75B-38F5-340E-5672-0496A9331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723A7E-6F06-F8F2-36DE-0F164BC0975F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D6ABA6A-9094-4D81-5460-1AEB169816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FBEB032-4D07-01CA-6022-22481AA092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17EAEC7-B5D1-0F60-8082-3BA6237F76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E23BDD6-17A7-5568-3D0B-C6231482AC5F}"/>
              </a:ext>
            </a:extLst>
          </p:cNvPr>
          <p:cNvSpPr txBox="1"/>
          <p:nvPr/>
        </p:nvSpPr>
        <p:spPr>
          <a:xfrm>
            <a:off x="7159681" y="2536447"/>
            <a:ext cx="431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דוחות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466D8-58DA-49FD-56E2-19758E60F632}"/>
              </a:ext>
            </a:extLst>
          </p:cNvPr>
          <p:cNvSpPr txBox="1"/>
          <p:nvPr/>
        </p:nvSpPr>
        <p:spPr>
          <a:xfrm>
            <a:off x="7138174" y="3256448"/>
            <a:ext cx="4333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דימה נוספת הייתה לגבי הדוחות איזה גרפים ומידע אנחנו צריכים להשתמש ואיזה גפים קיימים ב</a:t>
            </a:r>
            <a:r>
              <a:rPr lang="en-US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JAVAFX-</a:t>
            </a:r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.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0DFCFA-7160-9CCC-272C-C19A4AC5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40" y="1025570"/>
            <a:ext cx="3691631" cy="282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60CF67-222F-B796-6415-9D24CEF15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001" y="2125361"/>
            <a:ext cx="2876958" cy="345058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6FF012-21F5-B0A5-A04B-4FE84CC7DF96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74FC9-1C38-CAA4-A07F-4442950AA8C8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החלטות שעלו לנו לדיון</a:t>
            </a:r>
          </a:p>
        </p:txBody>
      </p:sp>
    </p:spTree>
    <p:extLst>
      <p:ext uri="{BB962C8B-B14F-4D97-AF65-F5344CB8AC3E}">
        <p14:creationId xmlns:p14="http://schemas.microsoft.com/office/powerpoint/2010/main" val="292622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B390-CB6C-0A88-F2FE-3887B4E2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DD6428-6346-0013-33BD-BCF95938C18C}"/>
              </a:ext>
            </a:extLst>
          </p:cNvPr>
          <p:cNvSpPr/>
          <p:nvPr/>
        </p:nvSpPr>
        <p:spPr>
          <a:xfrm>
            <a:off x="6464646" y="1361279"/>
            <a:ext cx="4827355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BB813-35E2-DD50-9567-BC83EFF846D1}"/>
              </a:ext>
            </a:extLst>
          </p:cNvPr>
          <p:cNvSpPr txBox="1"/>
          <p:nvPr/>
        </p:nvSpPr>
        <p:spPr>
          <a:xfrm>
            <a:off x="6464646" y="1485176"/>
            <a:ext cx="4827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Medium" panose="02000009000000000000" pitchFamily="49" charset="0"/>
              </a:rPr>
              <a:t>סגנונות תקשורת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67447A-B498-BD79-0B51-B3F2F4625DB8}"/>
              </a:ext>
            </a:extLst>
          </p:cNvPr>
          <p:cNvSpPr txBox="1"/>
          <p:nvPr/>
        </p:nvSpPr>
        <p:spPr>
          <a:xfrm>
            <a:off x="6464646" y="2282424"/>
            <a:ext cx="4334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אנליטי</a:t>
            </a:r>
          </a:p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תקשורת מבוססת נתונים, סדר והיגיון.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Medium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D51A3-CE0D-8BF9-BEEF-6105E9DF1FAB}"/>
              </a:ext>
            </a:extLst>
          </p:cNvPr>
          <p:cNvSpPr txBox="1"/>
          <p:nvPr/>
        </p:nvSpPr>
        <p:spPr>
          <a:xfrm>
            <a:off x="6464646" y="3268712"/>
            <a:ext cx="4334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u="sng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שיתופי</a:t>
            </a:r>
          </a:p>
          <a:p>
            <a:pPr algn="r" rtl="1"/>
            <a:r>
              <a:rPr lang="he-IL" dirty="0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עידוד דיון, הקשבה וחיפוש פתרון משותף.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D2CE0E-4736-8EDF-A009-78A997C744F4}"/>
              </a:ext>
            </a:extLst>
          </p:cNvPr>
          <p:cNvGrpSpPr>
            <a:grpSpLocks noChangeAspect="1"/>
          </p:cNvGrpSpPr>
          <p:nvPr/>
        </p:nvGrpSpPr>
        <p:grpSpPr>
          <a:xfrm>
            <a:off x="10863797" y="2282424"/>
            <a:ext cx="349704" cy="360000"/>
            <a:chOff x="11219900" y="3132690"/>
            <a:chExt cx="540000" cy="55589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15989A-4BD0-59C5-0DFF-A391A2A524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19900" y="3132690"/>
              <a:ext cx="540000" cy="540000"/>
            </a:xfrm>
            <a:prstGeom prst="ellipse">
              <a:avLst/>
            </a:prstGeom>
            <a:solidFill>
              <a:srgbClr val="A8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BA38BC1-D4D1-BC12-1090-3AFF26C43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5900" y="3180589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897E06-67DE-90FA-4BDE-5154A4B80AEA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10881127" y="3268712"/>
            <a:ext cx="353847" cy="360000"/>
            <a:chOff x="8683536" y="4143856"/>
            <a:chExt cx="540820" cy="55022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732E985-6046-04E1-5C6B-FE7897F68D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4356" y="4154080"/>
              <a:ext cx="540000" cy="540000"/>
            </a:xfrm>
            <a:prstGeom prst="ellipse">
              <a:avLst/>
            </a:prstGeom>
            <a:solidFill>
              <a:srgbClr val="6E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92EC33E4-5419-11F8-E25C-AC50D633C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3536" y="4143856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228EB0A-A242-9772-50F8-15E14264CFB9}"/>
              </a:ext>
            </a:extLst>
          </p:cNvPr>
          <p:cNvSpPr/>
          <p:nvPr/>
        </p:nvSpPr>
        <p:spPr>
          <a:xfrm>
            <a:off x="574589" y="1361279"/>
            <a:ext cx="5152767" cy="4135437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E5C202-AFBC-128E-D6B6-068BA38B0E44}"/>
              </a:ext>
            </a:extLst>
          </p:cNvPr>
          <p:cNvSpPr txBox="1"/>
          <p:nvPr/>
        </p:nvSpPr>
        <p:spPr>
          <a:xfrm>
            <a:off x="574589" y="1485176"/>
            <a:ext cx="5152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איך זה בפועל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944AA4-8D37-CA19-6644-5FE48F963AA8}"/>
              </a:ext>
            </a:extLst>
          </p:cNvPr>
          <p:cNvSpPr txBox="1"/>
          <p:nvPr/>
        </p:nvSpPr>
        <p:spPr>
          <a:xfrm>
            <a:off x="899463" y="2313443"/>
            <a:ext cx="4267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defTabSz="914400" rtl="1" eaLnBrk="1" latinLnBrk="0" hangingPunct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הדיון היה פתוח ומשתף ביקשנו שכל חבר צוות יגיד את הדעה השלו וההחלטות התקבלו על בסיס שקלול של כל הידע המשותף ובצורה אנליטית</a:t>
            </a:r>
            <a:endParaRPr lang="en-IL" dirty="0">
              <a:latin typeface="JetBrainsMono NF Medium" panose="02000009000000000000" pitchFamily="49" charset="0"/>
              <a:ea typeface="JetBrainsMono NF Medium" panose="02000009000000000000" pitchFamily="49" charset="0"/>
              <a:cs typeface="JetBrainsMono NF Medium" panose="02000009000000000000" pitchFamily="49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51B100F-9E26-B4AB-1789-6092C6BDA94F}"/>
              </a:ext>
            </a:extLst>
          </p:cNvPr>
          <p:cNvGrpSpPr>
            <a:grpSpLocks noChangeAspect="1"/>
          </p:cNvGrpSpPr>
          <p:nvPr/>
        </p:nvGrpSpPr>
        <p:grpSpPr>
          <a:xfrm>
            <a:off x="5242050" y="2282424"/>
            <a:ext cx="349704" cy="360000"/>
            <a:chOff x="11219900" y="3132690"/>
            <a:chExt cx="540000" cy="555899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B15E1E5-435D-26D1-80E7-556398F408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19900" y="3132690"/>
              <a:ext cx="540000" cy="540000"/>
            </a:xfrm>
            <a:prstGeom prst="ellipse">
              <a:avLst/>
            </a:prstGeom>
            <a:solidFill>
              <a:srgbClr val="A8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pic>
          <p:nvPicPr>
            <p:cNvPr id="54" name="Picture 2">
              <a:extLst>
                <a:ext uri="{FF2B5EF4-FFF2-40B4-BE49-F238E27FC236}">
                  <a16:creationId xmlns:a16="http://schemas.microsoft.com/office/drawing/2014/main" id="{D6BB0F25-FFF7-27D5-80DC-5382B573A9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5900" y="3180589"/>
              <a:ext cx="508000" cy="5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D4C6F2-1B0B-93A9-E0B0-FE96674AADC9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247DDA0-EDD3-468B-3AFD-2F6584A15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EEDF5B8-CC52-448D-9510-0E58406269B0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5B3343F-5AE6-D674-36BB-4CD2BBBD09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5CC95D7-F30D-E1F8-3D2F-A921EBD37D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50EE6BB-9572-3723-7AAD-505F04346C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F14575A-3CFB-F58E-477E-EB4D89B01FFC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EC495-A1C9-39F4-94B7-41D75A60FE6C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סגנונות תקשורת</a:t>
            </a:r>
          </a:p>
        </p:txBody>
      </p:sp>
    </p:spTree>
    <p:extLst>
      <p:ext uri="{BB962C8B-B14F-4D97-AF65-F5344CB8AC3E}">
        <p14:creationId xmlns:p14="http://schemas.microsoft.com/office/powerpoint/2010/main" val="197529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9" grpId="0"/>
      <p:bldP spid="22" grpId="0"/>
      <p:bldP spid="45" grpId="0" animBg="1"/>
      <p:bldP spid="14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D1EB-F10C-C57B-AD04-DF83D887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A54CB1-9DE2-1395-2B8A-B0EE20F7B186}"/>
              </a:ext>
            </a:extLst>
          </p:cNvPr>
          <p:cNvSpPr/>
          <p:nvPr/>
        </p:nvSpPr>
        <p:spPr>
          <a:xfrm>
            <a:off x="6507273" y="1030870"/>
            <a:ext cx="4320000" cy="216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92DF3-0014-82B0-E532-B9349D2A2E1E}"/>
              </a:ext>
            </a:extLst>
          </p:cNvPr>
          <p:cNvSpPr txBox="1"/>
          <p:nvPr/>
        </p:nvSpPr>
        <p:spPr>
          <a:xfrm>
            <a:off x="6507274" y="1154767"/>
            <a:ext cx="431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Medium" panose="02000009000000000000" pitchFamily="49" charset="0"/>
              </a:rPr>
              <a:t>תובנות של אסף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12335-F88D-A1F6-DF05-5F33D55E3DF4}"/>
              </a:ext>
            </a:extLst>
          </p:cNvPr>
          <p:cNvSpPr txBox="1"/>
          <p:nvPr/>
        </p:nvSpPr>
        <p:spPr>
          <a:xfrm>
            <a:off x="6507272" y="1739544"/>
            <a:ext cx="43199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למדתי שתיאום צפיות מסודר בתחילת העבודה צוות משפר יעילות, מונע חיכוכים בין חברי הצוות ומגביר תחושת אחראיות והשתתפות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E2321B0-ECDA-1372-45D6-7F5F299C6450}"/>
              </a:ext>
            </a:extLst>
          </p:cNvPr>
          <p:cNvSpPr/>
          <p:nvPr/>
        </p:nvSpPr>
        <p:spPr>
          <a:xfrm>
            <a:off x="1358092" y="1030870"/>
            <a:ext cx="4320000" cy="216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91F14-CE37-B364-33FD-D9F483CA55DF}"/>
              </a:ext>
            </a:extLst>
          </p:cNvPr>
          <p:cNvSpPr txBox="1"/>
          <p:nvPr/>
        </p:nvSpPr>
        <p:spPr>
          <a:xfrm>
            <a:off x="1359442" y="1154767"/>
            <a:ext cx="431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תובנות של אנדריי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5F151B-017A-E545-33CA-F059B433B293}"/>
              </a:ext>
            </a:extLst>
          </p:cNvPr>
          <p:cNvSpPr txBox="1"/>
          <p:nvPr/>
        </p:nvSpPr>
        <p:spPr>
          <a:xfrm>
            <a:off x="1358090" y="1739542"/>
            <a:ext cx="4320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Medium" panose="02000009000000000000" pitchFamily="49" charset="0"/>
              </a:rPr>
              <a:t>למדתי שידע מקצועי אינו מספיק, ותקשורת בין אישית טובה היא מפתח לצלחת הצוות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6ECC223-248A-A3EE-4F49-96952A75B990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F9A2097-36BE-99B8-BB0B-E9E78DECF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E486FC2-06B3-8D85-E1F3-39965749F537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0DAF0F9-A5DA-9032-B642-1E601CC276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5DBCCFD-91AB-85E5-3849-EC81D65349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B0CFAE4-3F4F-B246-170B-F75EB2CBF4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AA4BE28-6218-F828-E366-5062E49301FB}"/>
              </a:ext>
            </a:extLst>
          </p:cNvPr>
          <p:cNvSpPr/>
          <p:nvPr/>
        </p:nvSpPr>
        <p:spPr>
          <a:xfrm>
            <a:off x="6508622" y="3277979"/>
            <a:ext cx="4320000" cy="216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A5A44-1FF3-BCD9-ED2C-449CF184B40D}"/>
              </a:ext>
            </a:extLst>
          </p:cNvPr>
          <p:cNvSpPr txBox="1"/>
          <p:nvPr/>
        </p:nvSpPr>
        <p:spPr>
          <a:xfrm>
            <a:off x="6508623" y="3401876"/>
            <a:ext cx="431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Medium" panose="02000009000000000000" pitchFamily="49" charset="0"/>
              </a:rPr>
              <a:t>תובנות של שי</a:t>
            </a:r>
            <a:endParaRPr lang="en-IL" sz="3200" b="1" dirty="0"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103C0-2DAE-CC68-F42F-9F27C9DEB5BF}"/>
              </a:ext>
            </a:extLst>
          </p:cNvPr>
          <p:cNvSpPr txBox="1"/>
          <p:nvPr/>
        </p:nvSpPr>
        <p:spPr>
          <a:xfrm>
            <a:off x="6508621" y="3986653"/>
            <a:ext cx="4319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הבנתי שתקשורת ברורה ושקופה חוסכת אי הבנות ועיכובים בהמשך הדרך. 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43D668-C44B-ABC2-EA20-0D81F41D389C}"/>
              </a:ext>
            </a:extLst>
          </p:cNvPr>
          <p:cNvSpPr/>
          <p:nvPr/>
        </p:nvSpPr>
        <p:spPr>
          <a:xfrm>
            <a:off x="1358094" y="3277979"/>
            <a:ext cx="4320000" cy="216000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75343-00C0-DD98-405A-758BFA147E8A}"/>
              </a:ext>
            </a:extLst>
          </p:cNvPr>
          <p:cNvSpPr txBox="1"/>
          <p:nvPr/>
        </p:nvSpPr>
        <p:spPr>
          <a:xfrm>
            <a:off x="1359444" y="3401876"/>
            <a:ext cx="431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תובנות של אביב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BCDD3-3435-021C-BD07-C01956B51712}"/>
              </a:ext>
            </a:extLst>
          </p:cNvPr>
          <p:cNvSpPr txBox="1"/>
          <p:nvPr/>
        </p:nvSpPr>
        <p:spPr>
          <a:xfrm>
            <a:off x="1358092" y="3986651"/>
            <a:ext cx="4320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גיליתי שהכנה מוקדמת למפגשי צוות משפרת משמעותית את איכות הדיונים.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AB982E0-21CA-C17D-F2FB-517949CD0EA8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082DA-BE82-52A9-B827-4654695B1311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תובנות</a:t>
            </a:r>
          </a:p>
        </p:txBody>
      </p:sp>
    </p:spTree>
    <p:extLst>
      <p:ext uri="{BB962C8B-B14F-4D97-AF65-F5344CB8AC3E}">
        <p14:creationId xmlns:p14="http://schemas.microsoft.com/office/powerpoint/2010/main" val="2438259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45" grpId="0" animBg="1"/>
      <p:bldP spid="14" grpId="0"/>
      <p:bldP spid="42" grpId="0"/>
      <p:bldP spid="9" grpId="0" animBg="1"/>
      <p:bldP spid="10" grpId="0"/>
      <p:bldP spid="12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81EF-353C-B2D0-5B19-4B6E3547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14E4902-18D1-3420-09E8-94238A832405}"/>
              </a:ext>
            </a:extLst>
          </p:cNvPr>
          <p:cNvSpPr/>
          <p:nvPr/>
        </p:nvSpPr>
        <p:spPr>
          <a:xfrm>
            <a:off x="3205418" y="547818"/>
            <a:ext cx="5680751" cy="1884365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BF62B-F3FD-4814-C784-437358D0C7B0}"/>
              </a:ext>
            </a:extLst>
          </p:cNvPr>
          <p:cNvSpPr txBox="1"/>
          <p:nvPr/>
        </p:nvSpPr>
        <p:spPr>
          <a:xfrm>
            <a:off x="3205418" y="647344"/>
            <a:ext cx="5680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תובנות של הצוות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FEF21B-D4B3-1C5B-623D-69D0E82ADBD1}"/>
              </a:ext>
            </a:extLst>
          </p:cNvPr>
          <p:cNvSpPr txBox="1"/>
          <p:nvPr/>
        </p:nvSpPr>
        <p:spPr>
          <a:xfrm>
            <a:off x="3205417" y="1331645"/>
            <a:ext cx="5680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גילינו שעבודה עם סגנונות תקשורת שונים יכולה להיות יתרון, כל עוד יש הקשבה וכבוד הדדי.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FB50684-0FB8-F173-D4BA-73A2A277F9CB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19A07EC-BF14-BBF4-AC94-405867F47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62632B5-4CE5-FF32-6AAD-616FEA82D6E2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70EFDAB-D2A5-E936-4178-7F6169A784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F870A66-5354-7ECD-C471-C8D49D5209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94F79C0-754E-1377-A0C8-C249328BF3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A90635-BEF8-D692-86EE-2A7D326301D4}"/>
              </a:ext>
            </a:extLst>
          </p:cNvPr>
          <p:cNvSpPr/>
          <p:nvPr/>
        </p:nvSpPr>
        <p:spPr>
          <a:xfrm>
            <a:off x="3205417" y="2690749"/>
            <a:ext cx="5680751" cy="3180043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079FA-655C-D80A-0734-497225A9332E}"/>
              </a:ext>
            </a:extLst>
          </p:cNvPr>
          <p:cNvSpPr txBox="1"/>
          <p:nvPr/>
        </p:nvSpPr>
        <p:spPr>
          <a:xfrm>
            <a:off x="3205417" y="2790275"/>
            <a:ext cx="5680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3200" b="1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מסקנות</a:t>
            </a:r>
            <a:endParaRPr lang="en-IL" sz="3200" b="1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D2017-C8D3-9776-19B4-C9C7964DD287}"/>
              </a:ext>
            </a:extLst>
          </p:cNvPr>
          <p:cNvSpPr txBox="1"/>
          <p:nvPr/>
        </p:nvSpPr>
        <p:spPr>
          <a:xfrm>
            <a:off x="3205416" y="3474576"/>
            <a:ext cx="5680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תיאום ציפיות ושיח פתוח לאורך הפרויקט אפשרו עבודה מקצועית ומכבדת, צמצמו קונפליקטים וחיזקו את שיתוף הפעולה בצוות.</a:t>
            </a:r>
            <a:endParaRPr lang="en-IL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4C7C67-53C7-802E-A3DB-507D0420C3ED}"/>
              </a:ext>
            </a:extLst>
          </p:cNvPr>
          <p:cNvCxnSpPr>
            <a:cxnSpLocks/>
          </p:cNvCxnSpPr>
          <p:nvPr/>
        </p:nvCxnSpPr>
        <p:spPr>
          <a:xfrm>
            <a:off x="3322206" y="4498910"/>
            <a:ext cx="5447172" cy="0"/>
          </a:xfrm>
          <a:prstGeom prst="line">
            <a:avLst/>
          </a:prstGeom>
          <a:ln>
            <a:solidFill>
              <a:srgbClr val="1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37BD05-4FF1-FA0A-ABB8-BE53D2E5EB2A}"/>
              </a:ext>
            </a:extLst>
          </p:cNvPr>
          <p:cNvSpPr txBox="1"/>
          <p:nvPr/>
        </p:nvSpPr>
        <p:spPr>
          <a:xfrm>
            <a:off x="3205415" y="4672684"/>
            <a:ext cx="5680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fontAlgn="base"/>
            <a:r>
              <a:rPr lang="he-IL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שילוב של תכנון משותף בקבלת החלטות עם חלוקת עבודה מסודרת ובקרה שוטפת תרם ליעילות הצוות ולהשגת תוצר איכותי.</a:t>
            </a:r>
          </a:p>
        </p:txBody>
      </p:sp>
    </p:spTree>
    <p:extLst>
      <p:ext uri="{BB962C8B-B14F-4D97-AF65-F5344CB8AC3E}">
        <p14:creationId xmlns:p14="http://schemas.microsoft.com/office/powerpoint/2010/main" val="1775911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4" grpId="0"/>
      <p:bldP spid="42" grpId="0"/>
      <p:bldP spid="2" grpId="0" animBg="1"/>
      <p:bldP spid="3" grpId="0"/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6A41-F926-693E-BAD1-350CD07F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B318C162-D390-00B1-96A0-3BBFA069EFE2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7FC13D0-1AB9-3DE8-143F-B7B6B5FB8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BD4A1EE-B535-9366-9A94-DB74ED143390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97BF4C3-4476-136B-04FB-53D55420A6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C98A945-0B06-0772-A79C-17A9526390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A48BABB-9604-A45F-E0DD-A7382E802C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F6A234E1-FDED-FF9F-FD30-18BCC6240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089" y="1305761"/>
            <a:ext cx="1588539" cy="156677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B1D5218-E143-A902-5D53-D488E9841E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2640" y="3674291"/>
            <a:ext cx="1876491" cy="18764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21844D-811A-6E98-3622-C022B9B2B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030" y="1382243"/>
            <a:ext cx="1643567" cy="1643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81F33C0-92A0-1789-91ED-33B85B0F43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20030" y="3674291"/>
            <a:ext cx="1876491" cy="1883441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FC1B83F3-FAC2-6632-6FB3-5B9E5D1A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140" y="2872539"/>
            <a:ext cx="4171719" cy="80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4737A9-DB90-4623-3601-C71AC19D2C86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A2630-AE5B-BD39-9201-C0FFF1C5EA71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כלים לעבודה </a:t>
            </a:r>
          </a:p>
        </p:txBody>
      </p:sp>
    </p:spTree>
    <p:extLst>
      <p:ext uri="{BB962C8B-B14F-4D97-AF65-F5344CB8AC3E}">
        <p14:creationId xmlns:p14="http://schemas.microsoft.com/office/powerpoint/2010/main" val="27052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E519D-6CD2-DD20-BDF5-EF82D707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CDCDFE4-FF5E-6B46-51DC-579CC1196B99}"/>
              </a:ext>
            </a:extLst>
          </p:cNvPr>
          <p:cNvSpPr/>
          <p:nvPr/>
        </p:nvSpPr>
        <p:spPr>
          <a:xfrm>
            <a:off x="2712098" y="2436922"/>
            <a:ext cx="6767804" cy="1984156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8759EB-491C-53A4-AAD4-38672B1FF9F8}"/>
              </a:ext>
            </a:extLst>
          </p:cNvPr>
          <p:cNvSpPr txBox="1"/>
          <p:nvPr/>
        </p:nvSpPr>
        <p:spPr>
          <a:xfrm>
            <a:off x="2712096" y="2890365"/>
            <a:ext cx="6767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>
                <a:latin typeface="JetBrainsMono NF SemiBold" panose="02000009000000000000" pitchFamily="49" charset="0"/>
                <a:ea typeface="JetBrainsMono NF SemiBold" panose="02000009000000000000" pitchFamily="49" charset="0"/>
                <a:cs typeface="JetBrainsMono NF SemiBold" panose="02000009000000000000" pitchFamily="49" charset="0"/>
              </a:rPr>
              <a:t>הצלחת צוות מתחילה באנשים ולא במשימות כשיש אמון ותקשורת טובה, גם הפרויקט מצליח.</a:t>
            </a:r>
            <a:endParaRPr lang="en-IL" sz="2400" dirty="0">
              <a:latin typeface="JetBrainsMono NF SemiBold" panose="02000009000000000000" pitchFamily="49" charset="0"/>
              <a:ea typeface="JetBrainsMono NF SemiBold" panose="02000009000000000000" pitchFamily="49" charset="0"/>
              <a:cs typeface="JetBrainsMono NF SemiBold" panose="02000009000000000000" pitchFamily="49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7799FB-406C-17CD-CD02-D0A56E4D6BF2}"/>
              </a:ext>
            </a:extLst>
          </p:cNvPr>
          <p:cNvGrpSpPr/>
          <p:nvPr/>
        </p:nvGrpSpPr>
        <p:grpSpPr>
          <a:xfrm>
            <a:off x="0" y="5778000"/>
            <a:ext cx="3518092" cy="1080000"/>
            <a:chOff x="0" y="5778000"/>
            <a:chExt cx="3518092" cy="108000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7B21944-CE0D-3E91-1830-E64C279B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778000"/>
              <a:ext cx="1080000" cy="1080000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F83815-CE93-0213-3E53-A91994C9BC7E}"/>
                </a:ext>
              </a:extLst>
            </p:cNvPr>
            <p:cNvGrpSpPr/>
            <p:nvPr/>
          </p:nvGrpSpPr>
          <p:grpSpPr>
            <a:xfrm>
              <a:off x="1270326" y="6048000"/>
              <a:ext cx="2247766" cy="540000"/>
              <a:chOff x="1270326" y="6032428"/>
              <a:chExt cx="2247766" cy="540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532ABBD2-A165-96AA-AE25-EA7EEDC09D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70326" y="6032428"/>
                <a:ext cx="540000" cy="540000"/>
              </a:xfrm>
              <a:prstGeom prst="ellipse">
                <a:avLst/>
              </a:prstGeom>
              <a:solidFill>
                <a:srgbClr val="6E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72026C4-776C-4AF5-C817-64A63A6094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628" y="6032428"/>
                <a:ext cx="540000" cy="540000"/>
              </a:xfrm>
              <a:prstGeom prst="ellipse">
                <a:avLst/>
              </a:prstGeom>
              <a:solidFill>
                <a:srgbClr val="A8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FF72F2C-4D9E-910E-2626-D009FFFB48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092" y="6032428"/>
                <a:ext cx="540000" cy="540000"/>
              </a:xfrm>
              <a:prstGeom prst="ellipse">
                <a:avLst/>
              </a:prstGeom>
              <a:solidFill>
                <a:srgbClr val="E2C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FCE9E9-B2E5-D4BB-258A-BF819A3D49CE}"/>
              </a:ext>
            </a:extLst>
          </p:cNvPr>
          <p:cNvSpPr/>
          <p:nvPr/>
        </p:nvSpPr>
        <p:spPr>
          <a:xfrm>
            <a:off x="1619980" y="199089"/>
            <a:ext cx="8952036" cy="689070"/>
          </a:xfrm>
          <a:prstGeom prst="roundRect">
            <a:avLst>
              <a:gd name="adj" fmla="val 20208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190500" dist="25400" dir="5400000" algn="ctr" rotWithShape="0">
              <a:schemeClr val="tx1">
                <a:lumMod val="50000"/>
                <a:lumOff val="50000"/>
                <a:alpha val="30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sz="3600" b="1" dirty="0">
              <a:solidFill>
                <a:srgbClr val="160033"/>
              </a:solidFill>
              <a:latin typeface="JetBrainsMono NF ExtraBold" panose="02000009000000000000" pitchFamily="49" charset="0"/>
              <a:ea typeface="JetBrainsMono NF ExtraBold" panose="02000009000000000000" pitchFamily="49" charset="0"/>
              <a:cs typeface="JetBrainsMono NF ExtraBold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4A4B5-C37E-3F4A-E42B-87D23F88F7A6}"/>
              </a:ext>
            </a:extLst>
          </p:cNvPr>
          <p:cNvSpPr txBox="1"/>
          <p:nvPr/>
        </p:nvSpPr>
        <p:spPr>
          <a:xfrm>
            <a:off x="1381898" y="19908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he-IL" sz="4000" b="1" dirty="0">
                <a:solidFill>
                  <a:srgbClr val="160033"/>
                </a:solidFill>
                <a:latin typeface="JetBrainsMono NF ExtraBold" panose="02000009000000000000" pitchFamily="49" charset="0"/>
                <a:ea typeface="JetBrainsMono NF ExtraBold" panose="02000009000000000000" pitchFamily="49" charset="0"/>
                <a:cs typeface="JetBrainsMono NF ExtraBold" panose="02000009000000000000" pitchFamily="49" charset="0"/>
              </a:rPr>
              <a:t>טיפ לסמסטר הבא</a:t>
            </a:r>
          </a:p>
        </p:txBody>
      </p:sp>
    </p:spTree>
    <p:extLst>
      <p:ext uri="{BB962C8B-B14F-4D97-AF65-F5344CB8AC3E}">
        <p14:creationId xmlns:p14="http://schemas.microsoft.com/office/powerpoint/2010/main" val="889296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522</Words>
  <Application>Microsoft Macintosh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JetBrainsMono NF ExtraBold</vt:lpstr>
      <vt:lpstr>JetBrainsMono NF Medium</vt:lpstr>
      <vt:lpstr>JetBrainsMono NF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אנדריי בלוזיורוב</dc:creator>
  <cp:lastModifiedBy>אנדריי בלוזיורוב</cp:lastModifiedBy>
  <cp:revision>8</cp:revision>
  <dcterms:created xsi:type="dcterms:W3CDTF">2026-01-08T16:45:11Z</dcterms:created>
  <dcterms:modified xsi:type="dcterms:W3CDTF">2026-01-12T16:41:46Z</dcterms:modified>
</cp:coreProperties>
</file>